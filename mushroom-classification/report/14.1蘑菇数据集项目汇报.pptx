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20"/>
  </p:notesMasterIdLst>
  <p:sldIdLst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3" Type="http://schemas.openxmlformats.org/officeDocument/2006/relationships/tableStyles" Target="tableStyles.xml"/><Relationship Id="rId22" Type="http://schemas.openxmlformats.org/officeDocument/2006/relationships/viewProps" Target="viewProps.xml"/><Relationship Id="rId21" Type="http://schemas.openxmlformats.org/officeDocument/2006/relationships/presProps" Target="presProps.xml"/><Relationship Id="rId20" Type="http://schemas.openxmlformats.org/officeDocument/2006/relationships/notesMaster" Target="notesMasters/notesMaster1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5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21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2" y="1"/>
            <a:ext cx="3076575" cy="51276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92" tIns="45745" rIns="91492" bIns="45745" numCol="1" anchor="t" anchorCtr="0" compatLnSpc="1"/>
          <a:lstStyle>
            <a:lvl1pPr algn="l">
              <a:defRPr sz="1100"/>
            </a:lvl1pPr>
          </a:lstStyle>
          <a:p>
            <a:endParaRPr lang="en-US"/>
          </a:p>
        </p:txBody>
      </p:sp>
      <p:sp>
        <p:nvSpPr>
          <p:cNvPr id="1048922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1139" y="1"/>
            <a:ext cx="3076575" cy="51276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92" tIns="45745" rIns="91492" bIns="45745" numCol="1" anchor="t" anchorCtr="0" compatLnSpc="1"/>
          <a:lstStyle>
            <a:lvl1pPr algn="r">
              <a:defRPr sz="1100"/>
            </a:lvl1pPr>
          </a:lstStyle>
          <a:p>
            <a:endParaRPr lang="en-US"/>
          </a:p>
        </p:txBody>
      </p:sp>
      <p:sp>
        <p:nvSpPr>
          <p:cNvPr id="1048923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90600" y="766763"/>
            <a:ext cx="5118100" cy="38385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ffectLst/>
        </p:spPr>
      </p:sp>
      <p:sp>
        <p:nvSpPr>
          <p:cNvPr id="1048924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9614" y="4862514"/>
            <a:ext cx="5680075" cy="460533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92" tIns="45745" rIns="91492" bIns="45745" numCol="1" anchor="t" anchorCtr="0" compatLnSpc="1"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 smtClean="0"/>
          </a:p>
        </p:txBody>
      </p:sp>
      <p:sp>
        <p:nvSpPr>
          <p:cNvPr id="1048925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2" y="9720264"/>
            <a:ext cx="3076575" cy="51276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92" tIns="45745" rIns="91492" bIns="45745" numCol="1" anchor="b" anchorCtr="0" compatLnSpc="1"/>
          <a:lstStyle>
            <a:lvl1pPr algn="l">
              <a:defRPr sz="1100"/>
            </a:lvl1pPr>
          </a:lstStyle>
          <a:p>
            <a:endParaRPr lang="en-US"/>
          </a:p>
        </p:txBody>
      </p:sp>
      <p:sp>
        <p:nvSpPr>
          <p:cNvPr id="1048926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1139" y="9720264"/>
            <a:ext cx="3076575" cy="51276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92" tIns="45745" rIns="91492" bIns="45745" numCol="1" anchor="b" anchorCtr="0" compatLnSpc="1"/>
          <a:lstStyle>
            <a:lvl1pPr algn="r">
              <a:defRPr sz="1100"/>
            </a:lvl1pPr>
          </a:lstStyle>
          <a:p>
            <a:fld id="{A9A0EA98-5831-4853-B862-C702E6EB345C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4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66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867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1048868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1048869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870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5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80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881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88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104888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88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5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96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897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1048898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1048899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900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5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01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902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903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904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104890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90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5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07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908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1048909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910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1048911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912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1048913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914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5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71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872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1048873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874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2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1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1048582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583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5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15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916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917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1048918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1048919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920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5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85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886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1048887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1048888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1048889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890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5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91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892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89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104889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89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5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75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876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87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104887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87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6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577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578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1048579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04858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F23"/>
        </a:solidFill>
        <a:effectLst/>
      </p:bgPr>
    </p:bg>
    <p:spTree>
      <p:nvGrpSpPr>
        <p:cNvPr id="25" name=""/>
        <p:cNvGrpSpPr/>
        <p:nvPr/>
      </p:nvGrpSpPr>
      <p:grpSpPr/>
      <p:sp>
        <p:nvSpPr>
          <p:cNvPr id="1048584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C895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</a:p>
        </p:txBody>
      </p:sp>
      <p:sp>
        <p:nvSpPr>
          <p:cNvPr id="1048585" name="Rectangle 2"/>
          <p:cNvSpPr/>
          <p:nvPr/>
        </p:nvSpPr>
        <p:spPr>
          <a:xfrm>
            <a:off x="0" y="6217920"/>
            <a:ext cx="12191695" cy="640080"/>
          </a:xfrm>
          <a:prstGeom prst="rect">
            <a:avLst/>
          </a:prstGeom>
          <a:solidFill>
            <a:srgbClr val="2D5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</a:p>
        </p:txBody>
      </p:sp>
      <p:sp>
        <p:nvSpPr>
          <p:cNvPr id="1048586" name="TextBox 3"/>
          <p:cNvSpPr txBox="1"/>
          <p:nvPr/>
        </p:nvSpPr>
        <p:spPr>
          <a:xfrm>
            <a:off x="1371600" y="1371600"/>
            <a:ext cx="9144000" cy="75184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algn="l">
              <a:defRPr sz="44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🍄 蘑菇毒性分类预测</a:t>
            </a:r>
          </a:p>
        </p:txBody>
      </p:sp>
      <p:sp>
        <p:nvSpPr>
          <p:cNvPr id="1048587" name="TextBox 4"/>
          <p:cNvSpPr txBox="1"/>
          <p:nvPr/>
        </p:nvSpPr>
        <p:spPr>
          <a:xfrm>
            <a:off x="1371600" y="2560320"/>
            <a:ext cx="9144000" cy="49149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algn="l">
              <a:defRPr sz="2600" b="0">
                <a:solidFill>
                  <a:srgbClr val="7BB898"/>
                </a:solidFill>
                <a:latin typeface="微软雅黑" panose="020B0503020204020204" charset="-122"/>
              </a:defRPr>
            </a:pPr>
            <a:r>
              <a:t>基于 UCI </a:t>
            </a:r>
            <a:r>
              <a:rPr lang="zh-CN"/>
              <a:t>蘑菇</a:t>
            </a:r>
            <a:r>
              <a:t>数据集的机器学习分析</a:t>
            </a:r>
          </a:p>
        </p:txBody>
      </p:sp>
      <p:sp>
        <p:nvSpPr>
          <p:cNvPr id="1048588" name="Rectangle 5"/>
          <p:cNvSpPr/>
          <p:nvPr/>
        </p:nvSpPr>
        <p:spPr>
          <a:xfrm>
            <a:off x="1371600" y="3474720"/>
            <a:ext cx="2743200" cy="36576"/>
          </a:xfrm>
          <a:prstGeom prst="rect">
            <a:avLst/>
          </a:prstGeom>
          <a:solidFill>
            <a:srgbClr val="C895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</a:p>
        </p:txBody>
      </p:sp>
      <p:sp>
        <p:nvSpPr>
          <p:cNvPr id="1048589" name="TextBox 6"/>
          <p:cNvSpPr txBox="1"/>
          <p:nvPr/>
        </p:nvSpPr>
        <p:spPr>
          <a:xfrm>
            <a:off x="1371600" y="3840480"/>
            <a:ext cx="9144000" cy="35814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algn="l">
              <a:defRPr sz="1800" b="0">
                <a:solidFill>
                  <a:srgbClr val="D4E8DC"/>
                </a:solidFill>
                <a:latin typeface="微软雅黑" panose="020B0503020204020204" charset="-122"/>
              </a:defRPr>
            </a:pPr>
            <a:r>
              <a:t>Python 编程课程团队项目汇报</a:t>
            </a:r>
          </a:p>
        </p:txBody>
      </p:sp>
      <p:sp>
        <p:nvSpPr>
          <p:cNvPr id="1048590" name="TextBox 7"/>
          <p:cNvSpPr txBox="1"/>
          <p:nvPr/>
        </p:nvSpPr>
        <p:spPr>
          <a:xfrm>
            <a:off x="1371600" y="4389120"/>
            <a:ext cx="9144000" cy="33274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algn="l">
              <a:defRPr sz="1600" b="0">
                <a:solidFill>
                  <a:srgbClr val="6B6B6B"/>
                </a:solidFill>
                <a:latin typeface="微软雅黑" panose="020B0503020204020204" charset="-122"/>
              </a:defRPr>
            </a:pPr>
            <a:r>
              <a:t>2026年6月</a:t>
            </a:r>
          </a:p>
        </p:txBody>
      </p:sp>
      <p:sp>
        <p:nvSpPr>
          <p:cNvPr id="1048591" name="TextBox 8"/>
          <p:cNvSpPr txBox="1"/>
          <p:nvPr/>
        </p:nvSpPr>
        <p:spPr>
          <a:xfrm>
            <a:off x="457200" y="6400800"/>
            <a:ext cx="10972800" cy="269241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algn="ctr">
              <a:defRPr sz="1200" b="0">
                <a:solidFill>
                  <a:srgbClr val="4A6A5A"/>
                </a:solidFill>
                <a:latin typeface="微软雅黑" panose="020B0503020204020204" charset="-122"/>
              </a:defRPr>
            </a:pPr>
            <a:r>
              <a:t>Mushroom Toxicity Classification using Machine Learning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0"/>
        </a:solidFill>
        <a:effectLst/>
      </p:bgPr>
    </p:bg>
    <p:spTree>
      <p:nvGrpSpPr>
        <p:cNvPr id="33" name=""/>
        <p:cNvGrpSpPr/>
        <p:nvPr/>
      </p:nvGrpSpPr>
      <p:grpSpPr/>
      <p:sp>
        <p:nvSpPr>
          <p:cNvPr id="104859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D5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</a:p>
        </p:txBody>
      </p:sp>
      <p:sp>
        <p:nvSpPr>
          <p:cNvPr id="1048593" name="TextBox 2"/>
          <p:cNvSpPr txBox="1"/>
          <p:nvPr/>
        </p:nvSpPr>
        <p:spPr>
          <a:xfrm>
            <a:off x="548640" y="137160"/>
            <a:ext cx="10058400" cy="57404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algn="l">
              <a:defRPr sz="32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小组成员与分工</a:t>
            </a:r>
          </a:p>
        </p:txBody>
      </p:sp>
      <p:sp>
        <p:nvSpPr>
          <p:cNvPr id="1048594" name="TextBox 3"/>
          <p:cNvSpPr txBox="1"/>
          <p:nvPr/>
        </p:nvSpPr>
        <p:spPr>
          <a:xfrm>
            <a:off x="548640" y="685800"/>
            <a:ext cx="10058400" cy="29464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algn="l">
              <a:defRPr sz="1400" b="0">
                <a:solidFill>
                  <a:srgbClr val="D4E8DC"/>
                </a:solidFill>
                <a:latin typeface="微软雅黑" panose="020B0503020204020204" charset="-122"/>
              </a:defRPr>
            </a:pPr>
            <a:r>
              <a:t>Team Members &amp; Responsibilities</a:t>
            </a:r>
          </a:p>
        </p:txBody>
      </p:sp>
      <p:sp>
        <p:nvSpPr>
          <p:cNvPr id="1048595" name="Rectangle 4"/>
          <p:cNvSpPr/>
          <p:nvPr/>
        </p:nvSpPr>
        <p:spPr>
          <a:xfrm>
            <a:off x="0" y="1097280"/>
            <a:ext cx="12191695" cy="36576"/>
          </a:xfrm>
          <a:prstGeom prst="rect">
            <a:avLst/>
          </a:prstGeom>
          <a:solidFill>
            <a:srgbClr val="C895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</a:p>
        </p:txBody>
      </p:sp>
      <p:graphicFrame>
        <p:nvGraphicFramePr>
          <p:cNvPr id="4194304" name="Table 5"/>
          <p:cNvGraphicFramePr>
            <a:graphicFrameLocks noGrp="1"/>
          </p:cNvGraphicFramePr>
          <p:nvPr/>
        </p:nvGraphicFramePr>
        <p:xfrm>
          <a:off x="731520" y="1463040"/>
          <a:ext cx="1051560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200"/>
                <a:gridCol w="3505200"/>
                <a:gridCol w="3505200"/>
              </a:tblGrid>
              <a:tr h="585216">
                <a:tc>
                  <a:txBody>
                    <a:bodyPr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成员</a:t>
                      </a:r>
                    </a:p>
                  </a:txBody>
                  <a:tcPr>
                    <a:solidFill>
                      <a:srgbClr val="2D5A3D"/>
                    </a:solidFill>
                  </a:tcPr>
                </a:tc>
                <a:tc>
                  <a:txBody>
                    <a:bodyPr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分工</a:t>
                      </a:r>
                    </a:p>
                  </a:txBody>
                  <a:tcPr>
                    <a:solidFill>
                      <a:srgbClr val="2D5A3D"/>
                    </a:solidFill>
                  </a:tcPr>
                </a:tc>
                <a:tc>
                  <a:txBody>
                    <a:bodyPr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具体职责</a:t>
                      </a:r>
                    </a:p>
                  </a:txBody>
                  <a:tcPr>
                    <a:solidFill>
                      <a:srgbClr val="2D5A3D"/>
                    </a:solidFill>
                  </a:tcPr>
                </a:tc>
              </a:tr>
              <a:tr h="585216">
                <a:tc>
                  <a:txBody>
                    <a:bodyPr/>
                    <a:p>
                      <a:pPr algn="ctr">
                        <a:defRPr sz="1200">
                          <a:solidFill>
                            <a:srgbClr val="2C2C2C"/>
                          </a:solidFill>
                          <a:latin typeface="微软雅黑" panose="020B0503020204020204" charset="-122"/>
                        </a:defRPr>
                      </a:pPr>
                      <a:r>
                        <a:rPr lang="zh-CN" altLang="en-US"/>
                        <a:t>郑</a:t>
                      </a:r>
                      <a:r>
                        <a:rPr lang="zh-CN" altLang="en-US"/>
                        <a:t>可</a:t>
                      </a:r>
                      <a:r>
                        <a:rPr lang="zh-CN" altLang="en-US"/>
                        <a:t>盈</a:t>
                      </a:r>
                      <a:endParaRPr lang="zh-CN" altLang="en-US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>
                        <a:defRPr sz="1200">
                          <a:solidFill>
                            <a:srgbClr val="2C2C2C"/>
                          </a:solidFill>
                          <a:latin typeface="微软雅黑" panose="020B0503020204020204" charset="-122"/>
                        </a:defRPr>
                      </a:pPr>
                      <a:r>
                        <a:t>项目负责人 / 数据分析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>
                        <a:defRPr sz="1200">
                          <a:solidFill>
                            <a:srgbClr val="2C2C2C"/>
                          </a:solidFill>
                          <a:latin typeface="微软雅黑" panose="020B0503020204020204" charset="-122"/>
                        </a:defRPr>
                      </a:pPr>
                      <a:r>
                        <a:t>项目整体规划、数据分析流程设计、报告撰写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85216">
                <a:tc>
                  <a:txBody>
                    <a:bodyPr/>
                    <a:p>
                      <a:pPr algn="ctr">
                        <a:defRPr sz="1200">
                          <a:solidFill>
                            <a:srgbClr val="2C2C2C"/>
                          </a:solidFill>
                          <a:latin typeface="微软雅黑" panose="020B0503020204020204" charset="-122"/>
                        </a:defRPr>
                      </a:pPr>
                      <a:r>
                        <a:rPr lang="zh-CN" altLang="en-US"/>
                        <a:t>杨惠珍</a:t>
                      </a:r>
                      <a:endParaRPr lang="zh-CN" altLang="en-US"/>
                    </a:p>
                  </a:txBody>
                  <a:tcPr>
                    <a:solidFill>
                      <a:srgbClr val="D4E8DC"/>
                    </a:solidFill>
                  </a:tcPr>
                </a:tc>
                <a:tc>
                  <a:txBody>
                    <a:bodyPr/>
                    <a:p>
                      <a:pPr algn="ctr">
                        <a:defRPr sz="1200">
                          <a:solidFill>
                            <a:srgbClr val="2C2C2C"/>
                          </a:solidFill>
                          <a:latin typeface="微软雅黑" panose="020B0503020204020204" charset="-122"/>
                        </a:defRPr>
                      </a:pPr>
                      <a:r>
                        <a:t>数据处理 / 特征工程</a:t>
                      </a:r>
                    </a:p>
                  </a:txBody>
                  <a:tcPr>
                    <a:solidFill>
                      <a:srgbClr val="D4E8DC"/>
                    </a:solidFill>
                  </a:tcPr>
                </a:tc>
                <a:tc>
                  <a:txBody>
                    <a:bodyPr/>
                    <a:p>
                      <a:pPr algn="ctr">
                        <a:defRPr sz="1200">
                          <a:solidFill>
                            <a:srgbClr val="2C2C2C"/>
                          </a:solidFill>
                          <a:latin typeface="微软雅黑" panose="020B0503020204020204" charset="-122"/>
                        </a:defRPr>
                      </a:pPr>
                      <a:r>
                        <a:t>数据清洗、特征编码、特征重要性分析</a:t>
                      </a:r>
                    </a:p>
                  </a:txBody>
                  <a:tcPr>
                    <a:solidFill>
                      <a:srgbClr val="D4E8DC"/>
                    </a:solidFill>
                  </a:tcPr>
                </a:tc>
              </a:tr>
              <a:tr h="585216">
                <a:tc>
                  <a:txBody>
                    <a:bodyPr/>
                    <a:p>
                      <a:pPr algn="ctr">
                        <a:defRPr sz="1200">
                          <a:solidFill>
                            <a:srgbClr val="2C2C2C"/>
                          </a:solidFill>
                          <a:latin typeface="微软雅黑" panose="020B0503020204020204" charset="-122"/>
                        </a:defRPr>
                      </a:pPr>
                      <a:r>
                        <a:rPr lang="zh-CN"/>
                        <a:t>叶</a:t>
                      </a:r>
                      <a:r>
                        <a:rPr lang="zh-CN"/>
                        <a:t>笑</a:t>
                      </a:r>
                      <a:r>
                        <a:rPr lang="zh-CN"/>
                        <a:t>吟</a:t>
                      </a:r>
                      <a:endParaRPr lang="zh-CN" altLang="en-US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>
                        <a:defRPr sz="1200">
                          <a:solidFill>
                            <a:srgbClr val="2C2C2C"/>
                          </a:solidFill>
                          <a:latin typeface="微软雅黑" panose="020B0503020204020204" charset="-122"/>
                        </a:defRPr>
                      </a:pPr>
                      <a:r>
                        <a:t>模型开发 / 评估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>
                        <a:defRPr sz="1200">
                          <a:solidFill>
                            <a:srgbClr val="2C2C2C"/>
                          </a:solidFill>
                          <a:latin typeface="微软雅黑" panose="020B0503020204020204" charset="-122"/>
                        </a:defRPr>
                      </a:pPr>
                      <a:r>
                        <a:t>机器学习模型训练、调参、性能评估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85216">
                <a:tc>
                  <a:txBody>
                    <a:bodyPr/>
                    <a:p>
                      <a:pPr algn="ctr">
                        <a:defRPr sz="1200">
                          <a:solidFill>
                            <a:srgbClr val="2C2C2C"/>
                          </a:solidFill>
                          <a:latin typeface="微软雅黑" panose="020B0503020204020204" charset="-122"/>
                        </a:defRPr>
                      </a:pPr>
                      <a:r>
                        <a:rPr lang="zh-CN"/>
                        <a:t>肖彤</a:t>
                      </a:r>
                      <a:endParaRPr lang="zh-CN" altLang="en-US"/>
                    </a:p>
                  </a:txBody>
                  <a:tcPr>
                    <a:solidFill>
                      <a:srgbClr val="D4E8DC"/>
                    </a:solidFill>
                  </a:tcPr>
                </a:tc>
                <a:tc>
                  <a:txBody>
                    <a:bodyPr/>
                    <a:p>
                      <a:pPr algn="ctr">
                        <a:defRPr sz="1200">
                          <a:solidFill>
                            <a:srgbClr val="2C2C2C"/>
                          </a:solidFill>
                          <a:latin typeface="微软雅黑" panose="020B0503020204020204" charset="-122"/>
                        </a:defRPr>
                      </a:pPr>
                      <a:r>
                        <a:t>可视化 / 前端开发</a:t>
                      </a:r>
                    </a:p>
                  </a:txBody>
                  <a:tcPr>
                    <a:solidFill>
                      <a:srgbClr val="D4E8DC"/>
                    </a:solidFill>
                  </a:tcPr>
                </a:tc>
                <a:tc>
                  <a:txBody>
                    <a:bodyPr/>
                    <a:p>
                      <a:pPr algn="ctr">
                        <a:defRPr sz="1200">
                          <a:solidFill>
                            <a:srgbClr val="2C2C2C"/>
                          </a:solidFill>
                          <a:latin typeface="微软雅黑" panose="020B0503020204020204" charset="-122"/>
                        </a:defRPr>
                      </a:pPr>
                      <a:r>
                        <a:t>图表绘制、HTML交互式仪表盘开发</a:t>
                      </a:r>
                    </a:p>
                  </a:txBody>
                  <a:tcPr>
                    <a:solidFill>
                      <a:srgbClr val="D4E8DC"/>
                    </a:solidFill>
                  </a:tcPr>
                </a:tc>
              </a:tr>
            </a:tbl>
          </a:graphicData>
        </a:graphic>
      </p:graphicFrame>
      <p:sp>
        <p:nvSpPr>
          <p:cNvPr id="1048596" name="TextBox 6"/>
          <p:cNvSpPr txBox="1"/>
          <p:nvPr/>
        </p:nvSpPr>
        <p:spPr>
          <a:xfrm>
            <a:off x="731520" y="4754880"/>
            <a:ext cx="10058400" cy="39624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algn="l">
              <a:defRPr sz="2000" b="1">
                <a:solidFill>
                  <a:srgbClr val="2D5A3D"/>
                </a:solidFill>
                <a:latin typeface="微软雅黑" panose="020B0503020204020204" charset="-122"/>
              </a:defRPr>
            </a:pPr>
            <a:r>
              <a:t>协作方式</a:t>
            </a:r>
          </a:p>
        </p:txBody>
      </p:sp>
      <p:sp>
        <p:nvSpPr>
          <p:cNvPr id="1048597" name="TextBox 7"/>
          <p:cNvSpPr txBox="1"/>
          <p:nvPr/>
        </p:nvSpPr>
        <p:spPr>
          <a:xfrm>
            <a:off x="731520" y="5212080"/>
            <a:ext cx="10058400" cy="100584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>
              <a:spcBef>
                <a:spcPts val="800"/>
              </a:spcBef>
              <a:spcAft>
                <a:spcPts val="400"/>
              </a:spcAft>
              <a:defRPr sz="1400">
                <a:solidFill>
                  <a:srgbClr val="2C2C2C"/>
                </a:solidFill>
                <a:latin typeface="微软雅黑" panose="020B0503020204020204" charset="-122"/>
              </a:defRPr>
            </a:pPr>
            <a:r>
              <a:t>● 使用 PyCharm 进行开发，Git 进行版本管理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400">
                <a:solidFill>
                  <a:srgbClr val="2C2C2C"/>
                </a:solidFill>
                <a:latin typeface="微软雅黑" panose="020B0503020204020204" charset="-122"/>
              </a:defRPr>
            </a:pPr>
            <a:r>
              <a:t>● 每周例会讨论进展，分工协作完成各模块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400">
                <a:solidFill>
                  <a:srgbClr val="2C2C2C"/>
                </a:solidFill>
                <a:latin typeface="微软雅黑" panose="020B0503020204020204" charset="-122"/>
              </a:defRPr>
            </a:pPr>
            <a:r>
              <a:t>● 最终成果：Python 分析脚本 + 交互式 HTML 仪表盘 + 详细分析报告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0"/>
        </a:solidFill>
        <a:effectLst/>
      </p:bgPr>
    </p:bg>
    <p:spTree>
      <p:nvGrpSpPr>
        <p:cNvPr id="34" name=""/>
        <p:cNvGrpSpPr/>
        <p:nvPr/>
      </p:nvGrpSpPr>
      <p:grpSpPr/>
      <p:sp>
        <p:nvSpPr>
          <p:cNvPr id="1048598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D5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</a:p>
        </p:txBody>
      </p:sp>
      <p:sp>
        <p:nvSpPr>
          <p:cNvPr id="1048599" name="TextBox 2"/>
          <p:cNvSpPr txBox="1"/>
          <p:nvPr/>
        </p:nvSpPr>
        <p:spPr>
          <a:xfrm>
            <a:off x="548640" y="137160"/>
            <a:ext cx="10058400" cy="57404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algn="l">
              <a:defRPr sz="32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汇报提纲</a:t>
            </a:r>
          </a:p>
        </p:txBody>
      </p:sp>
      <p:sp>
        <p:nvSpPr>
          <p:cNvPr id="1048600" name="TextBox 3"/>
          <p:cNvSpPr txBox="1"/>
          <p:nvPr/>
        </p:nvSpPr>
        <p:spPr>
          <a:xfrm>
            <a:off x="548640" y="685800"/>
            <a:ext cx="10058400" cy="29464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algn="l">
              <a:defRPr sz="1400" b="0">
                <a:solidFill>
                  <a:srgbClr val="D4E8DC"/>
                </a:solidFill>
                <a:latin typeface="微软雅黑" panose="020B0503020204020204" charset="-122"/>
              </a:defRPr>
            </a:pPr>
            <a:r>
              <a:t>Presentation Outline</a:t>
            </a:r>
          </a:p>
        </p:txBody>
      </p:sp>
      <p:sp>
        <p:nvSpPr>
          <p:cNvPr id="1048601" name="Rectangle 4"/>
          <p:cNvSpPr/>
          <p:nvPr/>
        </p:nvSpPr>
        <p:spPr>
          <a:xfrm>
            <a:off x="0" y="1097280"/>
            <a:ext cx="12191695" cy="36576"/>
          </a:xfrm>
          <a:prstGeom prst="rect">
            <a:avLst/>
          </a:prstGeom>
          <a:solidFill>
            <a:srgbClr val="C895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</a:p>
        </p:txBody>
      </p:sp>
      <p:sp>
        <p:nvSpPr>
          <p:cNvPr id="1048602" name="Oval 5"/>
          <p:cNvSpPr/>
          <p:nvPr/>
        </p:nvSpPr>
        <p:spPr>
          <a:xfrm>
            <a:off x="1097280" y="1463040"/>
            <a:ext cx="548640" cy="548640"/>
          </a:xfrm>
          <a:prstGeom prst="ellipse">
            <a:avLst/>
          </a:prstGeom>
          <a:solidFill>
            <a:srgbClr val="2D5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>
              <a:defRPr sz="18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01</a:t>
            </a:r>
          </a:p>
        </p:txBody>
      </p:sp>
      <p:sp>
        <p:nvSpPr>
          <p:cNvPr id="1048603" name="TextBox 6"/>
          <p:cNvSpPr txBox="1"/>
          <p:nvPr/>
        </p:nvSpPr>
        <p:spPr>
          <a:xfrm>
            <a:off x="2011680" y="1417320"/>
            <a:ext cx="3657600" cy="39624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algn="l">
              <a:defRPr sz="2000" b="1">
                <a:solidFill>
                  <a:srgbClr val="2C2C2C"/>
                </a:solidFill>
                <a:latin typeface="微软雅黑" panose="020B0503020204020204" charset="-122"/>
              </a:defRPr>
            </a:pPr>
            <a:r>
              <a:t>项目背景与目标</a:t>
            </a:r>
          </a:p>
        </p:txBody>
      </p:sp>
      <p:sp>
        <p:nvSpPr>
          <p:cNvPr id="1048604" name="TextBox 7"/>
          <p:cNvSpPr txBox="1"/>
          <p:nvPr/>
        </p:nvSpPr>
        <p:spPr>
          <a:xfrm>
            <a:off x="2011680" y="17373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algn="l">
              <a:defRPr sz="1400" b="0">
                <a:solidFill>
                  <a:srgbClr val="6B6B6B"/>
                </a:solidFill>
                <a:latin typeface="微软雅黑" panose="020B0503020204020204" charset="-122"/>
              </a:defRPr>
            </a:pPr>
            <a:r>
              <a:t>为什么要做这个项目？要解决什么问题？</a:t>
            </a:r>
          </a:p>
        </p:txBody>
      </p:sp>
      <p:sp>
        <p:nvSpPr>
          <p:cNvPr id="1048605" name="Oval 8"/>
          <p:cNvSpPr/>
          <p:nvPr/>
        </p:nvSpPr>
        <p:spPr>
          <a:xfrm>
            <a:off x="1097280" y="2286000"/>
            <a:ext cx="548640" cy="548640"/>
          </a:xfrm>
          <a:prstGeom prst="ellipse">
            <a:avLst/>
          </a:prstGeom>
          <a:solidFill>
            <a:srgbClr val="4A8C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>
              <a:defRPr sz="18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02</a:t>
            </a:r>
          </a:p>
        </p:txBody>
      </p:sp>
      <p:sp>
        <p:nvSpPr>
          <p:cNvPr id="1048606" name="TextBox 9"/>
          <p:cNvSpPr txBox="1"/>
          <p:nvPr/>
        </p:nvSpPr>
        <p:spPr>
          <a:xfrm>
            <a:off x="2011680" y="2240280"/>
            <a:ext cx="3657600" cy="396239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algn="l">
              <a:defRPr sz="2000" b="1">
                <a:solidFill>
                  <a:srgbClr val="2C2C2C"/>
                </a:solidFill>
                <a:latin typeface="微软雅黑" panose="020B0503020204020204" charset="-122"/>
              </a:defRPr>
            </a:pPr>
            <a:r>
              <a:t>数据集介绍</a:t>
            </a:r>
          </a:p>
        </p:txBody>
      </p:sp>
      <p:sp>
        <p:nvSpPr>
          <p:cNvPr id="1048607" name="TextBox 10"/>
          <p:cNvSpPr txBox="1"/>
          <p:nvPr/>
        </p:nvSpPr>
        <p:spPr>
          <a:xfrm>
            <a:off x="2011680" y="25603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algn="l">
              <a:defRPr sz="1400" b="0">
                <a:solidFill>
                  <a:srgbClr val="6B6B6B"/>
                </a:solidFill>
                <a:latin typeface="微软雅黑" panose="020B0503020204020204" charset="-122"/>
              </a:defRPr>
            </a:pPr>
            <a:r>
              <a:t>我们用了什么数据？数据长什么样？</a:t>
            </a:r>
          </a:p>
        </p:txBody>
      </p:sp>
      <p:sp>
        <p:nvSpPr>
          <p:cNvPr id="1048608" name="Oval 11"/>
          <p:cNvSpPr/>
          <p:nvPr/>
        </p:nvSpPr>
        <p:spPr>
          <a:xfrm>
            <a:off x="1097280" y="3108960"/>
            <a:ext cx="548640" cy="548640"/>
          </a:xfrm>
          <a:prstGeom prst="ellipse">
            <a:avLst/>
          </a:prstGeom>
          <a:solidFill>
            <a:srgbClr val="2D5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>
              <a:defRPr sz="18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03</a:t>
            </a:r>
          </a:p>
        </p:txBody>
      </p:sp>
      <p:sp>
        <p:nvSpPr>
          <p:cNvPr id="1048609" name="TextBox 12"/>
          <p:cNvSpPr txBox="1"/>
          <p:nvPr/>
        </p:nvSpPr>
        <p:spPr>
          <a:xfrm>
            <a:off x="2011680" y="3063240"/>
            <a:ext cx="3657600" cy="396239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algn="l">
              <a:defRPr sz="2000" b="1">
                <a:solidFill>
                  <a:srgbClr val="2C2C2C"/>
                </a:solidFill>
                <a:latin typeface="微软雅黑" panose="020B0503020204020204" charset="-122"/>
              </a:defRPr>
            </a:pPr>
            <a:r>
              <a:t>技术栈与工具</a:t>
            </a:r>
          </a:p>
        </p:txBody>
      </p:sp>
      <p:sp>
        <p:nvSpPr>
          <p:cNvPr id="1048610" name="TextBox 13"/>
          <p:cNvSpPr txBox="1"/>
          <p:nvPr/>
        </p:nvSpPr>
        <p:spPr>
          <a:xfrm>
            <a:off x="2011680" y="3383280"/>
            <a:ext cx="7315200" cy="29464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algn="l">
              <a:defRPr sz="1400" b="0">
                <a:solidFill>
                  <a:srgbClr val="6B6B6B"/>
                </a:solidFill>
                <a:latin typeface="微软雅黑" panose="020B0503020204020204" charset="-122"/>
              </a:defRPr>
            </a:pPr>
            <a:r>
              <a:t>用了哪些 Python 库和技术？</a:t>
            </a:r>
          </a:p>
        </p:txBody>
      </p:sp>
      <p:sp>
        <p:nvSpPr>
          <p:cNvPr id="1048611" name="Oval 14"/>
          <p:cNvSpPr/>
          <p:nvPr/>
        </p:nvSpPr>
        <p:spPr>
          <a:xfrm>
            <a:off x="1097280" y="3931920"/>
            <a:ext cx="548640" cy="548640"/>
          </a:xfrm>
          <a:prstGeom prst="ellipse">
            <a:avLst/>
          </a:prstGeom>
          <a:solidFill>
            <a:srgbClr val="4A8C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>
              <a:defRPr sz="18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04</a:t>
            </a:r>
          </a:p>
        </p:txBody>
      </p:sp>
      <p:sp>
        <p:nvSpPr>
          <p:cNvPr id="1048612" name="TextBox 15"/>
          <p:cNvSpPr txBox="1"/>
          <p:nvPr/>
        </p:nvSpPr>
        <p:spPr>
          <a:xfrm>
            <a:off x="2011680" y="3886200"/>
            <a:ext cx="3657600" cy="39624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algn="l">
              <a:defRPr sz="2000" b="1">
                <a:solidFill>
                  <a:srgbClr val="2C2C2C"/>
                </a:solidFill>
                <a:latin typeface="微软雅黑" panose="020B0503020204020204" charset="-122"/>
              </a:defRPr>
            </a:pPr>
            <a:r>
              <a:t>分析方法与流程</a:t>
            </a:r>
          </a:p>
        </p:txBody>
      </p:sp>
      <p:sp>
        <p:nvSpPr>
          <p:cNvPr id="1048613" name="TextBox 16"/>
          <p:cNvSpPr txBox="1"/>
          <p:nvPr/>
        </p:nvSpPr>
        <p:spPr>
          <a:xfrm>
            <a:off x="2011680" y="420624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algn="l">
              <a:defRPr sz="1400" b="0">
                <a:solidFill>
                  <a:srgbClr val="6B6B6B"/>
                </a:solidFill>
                <a:latin typeface="微软雅黑" panose="020B0503020204020204" charset="-122"/>
              </a:defRPr>
            </a:pPr>
            <a:r>
              <a:t>数据怎么处理？模型怎么训练？</a:t>
            </a:r>
          </a:p>
        </p:txBody>
      </p:sp>
      <p:sp>
        <p:nvSpPr>
          <p:cNvPr id="1048614" name="Oval 17"/>
          <p:cNvSpPr/>
          <p:nvPr/>
        </p:nvSpPr>
        <p:spPr>
          <a:xfrm>
            <a:off x="1097280" y="4754880"/>
            <a:ext cx="548640" cy="548640"/>
          </a:xfrm>
          <a:prstGeom prst="ellipse">
            <a:avLst/>
          </a:prstGeom>
          <a:solidFill>
            <a:srgbClr val="2D5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>
              <a:defRPr sz="18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05</a:t>
            </a:r>
          </a:p>
        </p:txBody>
      </p:sp>
      <p:sp>
        <p:nvSpPr>
          <p:cNvPr id="1048615" name="TextBox 18"/>
          <p:cNvSpPr txBox="1"/>
          <p:nvPr/>
        </p:nvSpPr>
        <p:spPr>
          <a:xfrm>
            <a:off x="2011680" y="4709160"/>
            <a:ext cx="3657600" cy="396239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algn="l">
              <a:defRPr sz="2000" b="1">
                <a:solidFill>
                  <a:srgbClr val="2C2C2C"/>
                </a:solidFill>
                <a:latin typeface="微软雅黑" panose="020B0503020204020204" charset="-122"/>
              </a:defRPr>
            </a:pPr>
            <a:r>
              <a:t>实验结果与可视化</a:t>
            </a:r>
          </a:p>
        </p:txBody>
      </p:sp>
      <p:sp>
        <p:nvSpPr>
          <p:cNvPr id="1048616" name="TextBox 19"/>
          <p:cNvSpPr txBox="1"/>
          <p:nvPr/>
        </p:nvSpPr>
        <p:spPr>
          <a:xfrm>
            <a:off x="2011680" y="5029200"/>
            <a:ext cx="7315200" cy="29464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algn="l">
              <a:defRPr sz="1400" b="0">
                <a:solidFill>
                  <a:srgbClr val="6B6B6B"/>
                </a:solidFill>
                <a:latin typeface="微软雅黑" panose="020B0503020204020204" charset="-122"/>
              </a:defRPr>
            </a:pPr>
            <a:r>
              <a:t>模型效果如何？有哪些发现？</a:t>
            </a:r>
          </a:p>
        </p:txBody>
      </p:sp>
      <p:sp>
        <p:nvSpPr>
          <p:cNvPr id="1048617" name="Oval 20"/>
          <p:cNvSpPr/>
          <p:nvPr/>
        </p:nvSpPr>
        <p:spPr>
          <a:xfrm>
            <a:off x="1097280" y="5577840"/>
            <a:ext cx="548640" cy="548640"/>
          </a:xfrm>
          <a:prstGeom prst="ellipse">
            <a:avLst/>
          </a:prstGeom>
          <a:solidFill>
            <a:srgbClr val="4A8C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>
              <a:defRPr sz="18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06</a:t>
            </a:r>
          </a:p>
        </p:txBody>
      </p:sp>
      <p:sp>
        <p:nvSpPr>
          <p:cNvPr id="1048618" name="TextBox 21"/>
          <p:cNvSpPr txBox="1"/>
          <p:nvPr/>
        </p:nvSpPr>
        <p:spPr>
          <a:xfrm>
            <a:off x="2011680" y="5532120"/>
            <a:ext cx="3657600" cy="39624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algn="l">
              <a:defRPr sz="2000" b="1">
                <a:solidFill>
                  <a:srgbClr val="2C2C2C"/>
                </a:solidFill>
                <a:latin typeface="微软雅黑" panose="020B0503020204020204" charset="-122"/>
              </a:defRPr>
            </a:pPr>
            <a:r>
              <a:t>结论与建议</a:t>
            </a:r>
          </a:p>
        </p:txBody>
      </p:sp>
      <p:sp>
        <p:nvSpPr>
          <p:cNvPr id="1048619" name="TextBox 22"/>
          <p:cNvSpPr txBox="1"/>
          <p:nvPr/>
        </p:nvSpPr>
        <p:spPr>
          <a:xfrm>
            <a:off x="2011680" y="5852160"/>
            <a:ext cx="7315200" cy="29464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algn="l">
              <a:defRPr sz="1400" b="0">
                <a:solidFill>
                  <a:srgbClr val="6B6B6B"/>
                </a:solidFill>
                <a:latin typeface="微软雅黑" panose="020B0503020204020204" charset="-122"/>
              </a:defRPr>
            </a:pPr>
            <a:r>
              <a:t>总结：关键发现和实际意义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0"/>
        </a:solidFill>
        <a:effectLst/>
      </p:bgPr>
    </p:bg>
    <p:spTree>
      <p:nvGrpSpPr>
        <p:cNvPr id="35" name=""/>
        <p:cNvGrpSpPr/>
        <p:nvPr/>
      </p:nvGrpSpPr>
      <p:grpSpPr/>
      <p:sp>
        <p:nvSpPr>
          <p:cNvPr id="1048620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D5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</a:p>
        </p:txBody>
      </p:sp>
      <p:sp>
        <p:nvSpPr>
          <p:cNvPr id="1048621" name="TextBox 2"/>
          <p:cNvSpPr txBox="1"/>
          <p:nvPr/>
        </p:nvSpPr>
        <p:spPr>
          <a:xfrm>
            <a:off x="548640" y="137160"/>
            <a:ext cx="10058400" cy="57404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algn="l">
              <a:defRPr sz="32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项目背景</a:t>
            </a:r>
          </a:p>
        </p:txBody>
      </p:sp>
      <p:sp>
        <p:nvSpPr>
          <p:cNvPr id="1048622" name="TextBox 3"/>
          <p:cNvSpPr txBox="1"/>
          <p:nvPr/>
        </p:nvSpPr>
        <p:spPr>
          <a:xfrm>
            <a:off x="548640" y="685800"/>
            <a:ext cx="10058400" cy="29464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algn="l">
              <a:defRPr sz="1400" b="0">
                <a:solidFill>
                  <a:srgbClr val="D4E8DC"/>
                </a:solidFill>
                <a:latin typeface="微软雅黑" panose="020B0503020204020204" charset="-122"/>
              </a:defRPr>
            </a:pPr>
            <a:r>
              <a:t>Project Background — 为什么研究蘑菇毒性？</a:t>
            </a:r>
          </a:p>
        </p:txBody>
      </p:sp>
      <p:sp>
        <p:nvSpPr>
          <p:cNvPr id="1048623" name="Rectangle 4"/>
          <p:cNvSpPr/>
          <p:nvPr/>
        </p:nvSpPr>
        <p:spPr>
          <a:xfrm>
            <a:off x="0" y="1097280"/>
            <a:ext cx="12191695" cy="36576"/>
          </a:xfrm>
          <a:prstGeom prst="rect">
            <a:avLst/>
          </a:prstGeom>
          <a:solidFill>
            <a:srgbClr val="C895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</a:p>
        </p:txBody>
      </p:sp>
      <p:sp>
        <p:nvSpPr>
          <p:cNvPr id="1048624" name="TextBox 5"/>
          <p:cNvSpPr txBox="1"/>
          <p:nvPr/>
        </p:nvSpPr>
        <p:spPr>
          <a:xfrm>
            <a:off x="731520" y="1463040"/>
            <a:ext cx="5029200" cy="40894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algn="l">
              <a:defRPr sz="2200" b="1">
                <a:solidFill>
                  <a:srgbClr val="2D5A3D"/>
                </a:solidFill>
                <a:latin typeface="微软雅黑" panose="020B0503020204020204" charset="-122"/>
              </a:defRPr>
            </a:pPr>
            <a:r>
              <a:t>现实问题</a:t>
            </a:r>
          </a:p>
        </p:txBody>
      </p:sp>
      <p:sp>
        <p:nvSpPr>
          <p:cNvPr id="1048625" name="TextBox 6"/>
          <p:cNvSpPr txBox="1"/>
          <p:nvPr/>
        </p:nvSpPr>
        <p:spPr>
          <a:xfrm>
            <a:off x="731520" y="2011680"/>
            <a:ext cx="5029200" cy="1691641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>
              <a:spcBef>
                <a:spcPts val="800"/>
              </a:spcBef>
              <a:spcAft>
                <a:spcPts val="400"/>
              </a:spcAft>
              <a:defRPr sz="1500">
                <a:solidFill>
                  <a:srgbClr val="2C2C2C"/>
                </a:solidFill>
                <a:latin typeface="微软雅黑" panose="020B0503020204020204" charset="-122"/>
              </a:defRPr>
            </a:pPr>
            <a:r>
              <a:t>● 全球每年因误食毒蘑菇导致数千人中毒，部分情况可致命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500">
                <a:solidFill>
                  <a:srgbClr val="2C2C2C"/>
                </a:solidFill>
                <a:latin typeface="微软雅黑" panose="020B0503020204020204" charset="-122"/>
              </a:defRPr>
            </a:pPr>
            <a:r>
              <a:t>● 普通人难以仅凭肉眼准确区分有毒和可食用蘑菇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500">
                <a:solidFill>
                  <a:srgbClr val="2C2C2C"/>
                </a:solidFill>
                <a:latin typeface="微软雅黑" panose="020B0503020204020204" charset="-122"/>
              </a:defRPr>
            </a:pPr>
            <a:r>
              <a:t>● 传统鉴别依赖专家经验，不够普及和便捷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500">
                <a:solidFill>
                  <a:srgbClr val="2C2C2C"/>
                </a:solidFill>
                <a:latin typeface="微软雅黑" panose="020B0503020204020204" charset="-122"/>
              </a:defRPr>
            </a:pPr>
            <a:r>
              <a:t>● 机器学习可以通过蘑菇的外观特征自动判断毒性</a:t>
            </a:r>
          </a:p>
        </p:txBody>
      </p:sp>
      <p:sp>
        <p:nvSpPr>
          <p:cNvPr id="1048626" name="TextBox 7"/>
          <p:cNvSpPr txBox="1"/>
          <p:nvPr/>
        </p:nvSpPr>
        <p:spPr>
          <a:xfrm>
            <a:off x="6400800" y="1463040"/>
            <a:ext cx="5029200" cy="40894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algn="l">
              <a:defRPr sz="2200" b="1">
                <a:solidFill>
                  <a:srgbClr val="2D5A3D"/>
                </a:solidFill>
                <a:latin typeface="微软雅黑" panose="020B0503020204020204" charset="-122"/>
              </a:defRPr>
            </a:pPr>
            <a:r>
              <a:t>数据来源</a:t>
            </a:r>
          </a:p>
        </p:txBody>
      </p:sp>
      <p:sp>
        <p:nvSpPr>
          <p:cNvPr id="1048627" name="Rectangle 8"/>
          <p:cNvSpPr/>
          <p:nvPr/>
        </p:nvSpPr>
        <p:spPr>
          <a:xfrm>
            <a:off x="6400800" y="2103120"/>
            <a:ext cx="5029200" cy="3200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</a:p>
        </p:txBody>
      </p:sp>
      <p:sp>
        <p:nvSpPr>
          <p:cNvPr id="1048628" name="TextBox 9"/>
          <p:cNvSpPr txBox="1"/>
          <p:nvPr/>
        </p:nvSpPr>
        <p:spPr>
          <a:xfrm>
            <a:off x="6675120" y="22860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algn="l">
              <a:defRPr sz="1800" b="1">
                <a:solidFill>
                  <a:srgbClr val="1A2F23"/>
                </a:solidFill>
                <a:latin typeface="微软雅黑" panose="020B0503020204020204" charset="-122"/>
              </a:defRPr>
            </a:pPr>
            <a:r>
              <a:t>UCI Mushroom Dataset</a:t>
            </a:r>
          </a:p>
        </p:txBody>
      </p:sp>
      <p:sp>
        <p:nvSpPr>
          <p:cNvPr id="1048629" name="TextBox 10"/>
          <p:cNvSpPr txBox="1"/>
          <p:nvPr/>
        </p:nvSpPr>
        <p:spPr>
          <a:xfrm>
            <a:off x="6675120" y="2834640"/>
            <a:ext cx="4572000" cy="199644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>
              <a:spcBef>
                <a:spcPts val="800"/>
              </a:spcBef>
              <a:spcAft>
                <a:spcPts val="400"/>
              </a:spcAft>
              <a:defRPr sz="1300">
                <a:solidFill>
                  <a:srgbClr val="2C2C2C"/>
                </a:solidFill>
                <a:latin typeface="微软雅黑" panose="020B0503020204020204" charset="-122"/>
              </a:defRPr>
            </a:pPr>
            <a:r>
              <a:t>● 来源：UCI Machine Learning Repository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300">
                <a:solidFill>
                  <a:srgbClr val="2C2C2C"/>
                </a:solidFill>
                <a:latin typeface="微软雅黑" panose="020B0503020204020204" charset="-122"/>
              </a:defRPr>
            </a:pPr>
            <a:r>
              <a:t>● 原始论文：Schlimmer, J.S. (1987)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300">
                <a:solidFill>
                  <a:srgbClr val="2C2C2C"/>
                </a:solidFill>
                <a:latin typeface="微软雅黑" panose="020B0503020204020204" charset="-122"/>
              </a:defRPr>
            </a:pPr>
            <a:r>
              <a:t>● 记录：8,124 条蘑菇样本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300">
                <a:solidFill>
                  <a:srgbClr val="2C2C2C"/>
                </a:solidFill>
                <a:latin typeface="微软雅黑" panose="020B0503020204020204" charset="-122"/>
              </a:defRPr>
            </a:pPr>
            <a:r>
              <a:t>● 特征：22 个形态学特征（全部为分类变量）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300">
                <a:solidFill>
                  <a:srgbClr val="2C2C2C"/>
                </a:solidFill>
                <a:latin typeface="微软雅黑" panose="020B0503020204020204" charset="-122"/>
              </a:defRPr>
            </a:pPr>
            <a:r>
              <a:t>● 目标：二分类 — 可食用(e) vs 有毒(p)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300">
                <a:solidFill>
                  <a:srgbClr val="2C2C2C"/>
                </a:solidFill>
                <a:latin typeface="微软雅黑" panose="020B0503020204020204" charset="-122"/>
              </a:defRPr>
            </a:pPr>
            <a:r>
              <a:t>● 特点：无缺失值（除 stalk-root 外），类别基本平衡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0"/>
        </a:solidFill>
        <a:effectLst/>
      </p:bgPr>
    </p:bg>
    <p:spTree>
      <p:nvGrpSpPr>
        <p:cNvPr id="36" name=""/>
        <p:cNvGrpSpPr/>
        <p:nvPr/>
      </p:nvGrpSpPr>
      <p:grpSpPr/>
      <p:sp>
        <p:nvSpPr>
          <p:cNvPr id="1048630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D5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</a:p>
        </p:txBody>
      </p:sp>
      <p:sp>
        <p:nvSpPr>
          <p:cNvPr id="1048631" name="TextBox 2"/>
          <p:cNvSpPr txBox="1"/>
          <p:nvPr/>
        </p:nvSpPr>
        <p:spPr>
          <a:xfrm>
            <a:off x="548640" y="137160"/>
            <a:ext cx="10058400" cy="57404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algn="l">
              <a:defRPr sz="32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项目目标</a:t>
            </a:r>
          </a:p>
        </p:txBody>
      </p:sp>
      <p:sp>
        <p:nvSpPr>
          <p:cNvPr id="1048632" name="TextBox 3"/>
          <p:cNvSpPr txBox="1"/>
          <p:nvPr/>
        </p:nvSpPr>
        <p:spPr>
          <a:xfrm>
            <a:off x="548640" y="685800"/>
            <a:ext cx="10058400" cy="29464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algn="l">
              <a:defRPr sz="1400" b="0">
                <a:solidFill>
                  <a:srgbClr val="D4E8DC"/>
                </a:solidFill>
                <a:latin typeface="微软雅黑" panose="020B0503020204020204" charset="-122"/>
              </a:defRPr>
            </a:pPr>
            <a:r>
              <a:t>Project Objectives</a:t>
            </a:r>
          </a:p>
        </p:txBody>
      </p:sp>
      <p:sp>
        <p:nvSpPr>
          <p:cNvPr id="1048633" name="Rectangle 4"/>
          <p:cNvSpPr/>
          <p:nvPr/>
        </p:nvSpPr>
        <p:spPr>
          <a:xfrm>
            <a:off x="0" y="1097280"/>
            <a:ext cx="12191695" cy="36576"/>
          </a:xfrm>
          <a:prstGeom prst="rect">
            <a:avLst/>
          </a:prstGeom>
          <a:solidFill>
            <a:srgbClr val="C895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</a:p>
        </p:txBody>
      </p:sp>
      <p:sp>
        <p:nvSpPr>
          <p:cNvPr id="1048634" name="Rectangle 5"/>
          <p:cNvSpPr/>
          <p:nvPr/>
        </p:nvSpPr>
        <p:spPr>
          <a:xfrm>
            <a:off x="914400" y="1645920"/>
            <a:ext cx="1097280" cy="1097280"/>
          </a:xfrm>
          <a:prstGeom prst="rect">
            <a:avLst/>
          </a:prstGeom>
          <a:solidFill>
            <a:srgbClr val="D4E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>
              <a:defRPr sz="3200"/>
            </a:pPr>
            <a:r>
              <a:t>🎯</a:t>
            </a:r>
          </a:p>
        </p:txBody>
      </p:sp>
      <p:sp>
        <p:nvSpPr>
          <p:cNvPr id="1048635" name="TextBox 6"/>
          <p:cNvSpPr txBox="1"/>
          <p:nvPr/>
        </p:nvSpPr>
        <p:spPr>
          <a:xfrm>
            <a:off x="2286000" y="1645920"/>
            <a:ext cx="8229600" cy="40894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algn="l">
              <a:defRPr sz="2200" b="1">
                <a:solidFill>
                  <a:srgbClr val="2D5A3D"/>
                </a:solidFill>
                <a:latin typeface="微软雅黑" panose="020B0503020204020204" charset="-122"/>
              </a:defRPr>
            </a:pPr>
            <a:r>
              <a:t>主要目标</a:t>
            </a:r>
          </a:p>
        </p:txBody>
      </p:sp>
      <p:sp>
        <p:nvSpPr>
          <p:cNvPr id="1048636" name="TextBox 7"/>
          <p:cNvSpPr txBox="1"/>
          <p:nvPr/>
        </p:nvSpPr>
        <p:spPr>
          <a:xfrm>
            <a:off x="2286000" y="2057400"/>
            <a:ext cx="8229600" cy="548641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algn="l">
              <a:defRPr sz="1500" b="0">
                <a:solidFill>
                  <a:srgbClr val="6B6B6B"/>
                </a:solidFill>
                <a:latin typeface="微软雅黑" panose="020B0503020204020204" charset="-122"/>
              </a:defRPr>
            </a:pPr>
            <a:r>
              <a:t>利用机器学习算法，基于蘑菇的 22 个形态学特征，</a:t>
            </a:r>
            <a:br/>
            <a:r>
              <a:t>构建高准确率的毒性分类模型</a:t>
            </a:r>
          </a:p>
        </p:txBody>
      </p:sp>
      <p:sp>
        <p:nvSpPr>
          <p:cNvPr id="1048637" name="Rectangle 8"/>
          <p:cNvSpPr/>
          <p:nvPr/>
        </p:nvSpPr>
        <p:spPr>
          <a:xfrm>
            <a:off x="914400" y="3200400"/>
            <a:ext cx="1097280" cy="1097280"/>
          </a:xfrm>
          <a:prstGeom prst="rect">
            <a:avLst/>
          </a:prstGeom>
          <a:solidFill>
            <a:srgbClr val="D4E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>
              <a:defRPr sz="3200"/>
            </a:pPr>
            <a:r>
              <a:t>🔬</a:t>
            </a:r>
          </a:p>
        </p:txBody>
      </p:sp>
      <p:sp>
        <p:nvSpPr>
          <p:cNvPr id="1048638" name="TextBox 9"/>
          <p:cNvSpPr txBox="1"/>
          <p:nvPr/>
        </p:nvSpPr>
        <p:spPr>
          <a:xfrm>
            <a:off x="2286000" y="3200400"/>
            <a:ext cx="8229600" cy="40894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algn="l">
              <a:defRPr sz="2200" b="1">
                <a:solidFill>
                  <a:srgbClr val="2D5A3D"/>
                </a:solidFill>
                <a:latin typeface="微软雅黑" panose="020B0503020204020204" charset="-122"/>
              </a:defRPr>
            </a:pPr>
            <a:r>
              <a:t>分析目标</a:t>
            </a:r>
          </a:p>
        </p:txBody>
      </p:sp>
      <p:sp>
        <p:nvSpPr>
          <p:cNvPr id="1048639" name="TextBox 10"/>
          <p:cNvSpPr txBox="1"/>
          <p:nvPr/>
        </p:nvSpPr>
        <p:spPr>
          <a:xfrm>
            <a:off x="2286000" y="3611880"/>
            <a:ext cx="8229600" cy="548641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algn="l">
              <a:defRPr sz="1500" b="0">
                <a:solidFill>
                  <a:srgbClr val="6B6B6B"/>
                </a:solidFill>
                <a:latin typeface="微软雅黑" panose="020B0503020204020204" charset="-122"/>
              </a:defRPr>
            </a:pPr>
            <a:r>
              <a:t>通过特征重要性分析，找出判断蘑菇毒性最关键的特征，</a:t>
            </a:r>
            <a:br/>
            <a:r>
              <a:t>为实际鉴别提供科学依据</a:t>
            </a:r>
          </a:p>
        </p:txBody>
      </p:sp>
      <p:sp>
        <p:nvSpPr>
          <p:cNvPr id="1048640" name="Rectangle 11"/>
          <p:cNvSpPr/>
          <p:nvPr/>
        </p:nvSpPr>
        <p:spPr>
          <a:xfrm>
            <a:off x="914400" y="4754880"/>
            <a:ext cx="1097280" cy="1097280"/>
          </a:xfrm>
          <a:prstGeom prst="rect">
            <a:avLst/>
          </a:prstGeom>
          <a:solidFill>
            <a:srgbClr val="D4E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>
              <a:defRPr sz="3200"/>
            </a:pPr>
            <a:r>
              <a:t>📊</a:t>
            </a:r>
          </a:p>
        </p:txBody>
      </p:sp>
      <p:sp>
        <p:nvSpPr>
          <p:cNvPr id="1048641" name="TextBox 12"/>
          <p:cNvSpPr txBox="1"/>
          <p:nvPr/>
        </p:nvSpPr>
        <p:spPr>
          <a:xfrm>
            <a:off x="2286000" y="4754880"/>
            <a:ext cx="8229600" cy="408939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algn="l">
              <a:defRPr sz="2200" b="1">
                <a:solidFill>
                  <a:srgbClr val="2D5A3D"/>
                </a:solidFill>
                <a:latin typeface="微软雅黑" panose="020B0503020204020204" charset="-122"/>
              </a:defRPr>
            </a:pPr>
            <a:r>
              <a:t>展示目标</a:t>
            </a:r>
          </a:p>
        </p:txBody>
      </p:sp>
      <p:sp>
        <p:nvSpPr>
          <p:cNvPr id="1048642" name="TextBox 13"/>
          <p:cNvSpPr txBox="1"/>
          <p:nvPr/>
        </p:nvSpPr>
        <p:spPr>
          <a:xfrm>
            <a:off x="2286000" y="51663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algn="l">
              <a:defRPr sz="1500" b="0">
                <a:solidFill>
                  <a:srgbClr val="6B6B6B"/>
                </a:solidFill>
                <a:latin typeface="微软雅黑" panose="020B0503020204020204" charset="-122"/>
              </a:defRPr>
            </a:pPr>
            <a:r>
              <a:t>开发交互式数据仪表盘，直观展示分析结果，</a:t>
            </a:r>
            <a:br/>
            <a:r>
              <a:t>让非技术人员也能理解数据洞察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0"/>
        </a:solidFill>
        <a:effectLst/>
      </p:bgPr>
    </p:bg>
    <p:spTree>
      <p:nvGrpSpPr>
        <p:cNvPr id="37" name=""/>
        <p:cNvGrpSpPr/>
        <p:nvPr/>
      </p:nvGrpSpPr>
      <p:grpSpPr/>
      <p:sp>
        <p:nvSpPr>
          <p:cNvPr id="1048643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D5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</a:p>
        </p:txBody>
      </p:sp>
      <p:sp>
        <p:nvSpPr>
          <p:cNvPr id="1048644" name="TextBox 2"/>
          <p:cNvSpPr txBox="1"/>
          <p:nvPr/>
        </p:nvSpPr>
        <p:spPr>
          <a:xfrm>
            <a:off x="548640" y="137160"/>
            <a:ext cx="10058400" cy="57404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algn="l">
              <a:defRPr sz="32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数据集概览</a:t>
            </a:r>
          </a:p>
        </p:txBody>
      </p:sp>
      <p:sp>
        <p:nvSpPr>
          <p:cNvPr id="1048645" name="TextBox 3"/>
          <p:cNvSpPr txBox="1"/>
          <p:nvPr/>
        </p:nvSpPr>
        <p:spPr>
          <a:xfrm>
            <a:off x="548640" y="685800"/>
            <a:ext cx="10058400" cy="29464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algn="l">
              <a:defRPr sz="1400" b="0">
                <a:solidFill>
                  <a:srgbClr val="D4E8DC"/>
                </a:solidFill>
                <a:latin typeface="微软雅黑" panose="020B0503020204020204" charset="-122"/>
              </a:defRPr>
            </a:pPr>
            <a:r>
              <a:t>Dataset Overview — 8124 个蘑菇样本 × 22 个特征</a:t>
            </a:r>
          </a:p>
        </p:txBody>
      </p:sp>
      <p:sp>
        <p:nvSpPr>
          <p:cNvPr id="1048646" name="Rectangle 4"/>
          <p:cNvSpPr/>
          <p:nvPr/>
        </p:nvSpPr>
        <p:spPr>
          <a:xfrm>
            <a:off x="0" y="1097280"/>
            <a:ext cx="12191695" cy="36576"/>
          </a:xfrm>
          <a:prstGeom prst="rect">
            <a:avLst/>
          </a:prstGeom>
          <a:solidFill>
            <a:srgbClr val="C895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</a:p>
        </p:txBody>
      </p:sp>
      <p:sp>
        <p:nvSpPr>
          <p:cNvPr id="1048647" name="Rectangle 5"/>
          <p:cNvSpPr/>
          <p:nvPr/>
        </p:nvSpPr>
        <p:spPr>
          <a:xfrm>
            <a:off x="548640" y="1371600"/>
            <a:ext cx="2560320" cy="1280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</a:p>
        </p:txBody>
      </p:sp>
      <p:sp>
        <p:nvSpPr>
          <p:cNvPr id="1048648" name="Rectangle 6"/>
          <p:cNvSpPr/>
          <p:nvPr/>
        </p:nvSpPr>
        <p:spPr>
          <a:xfrm>
            <a:off x="548640" y="1371600"/>
            <a:ext cx="2560320" cy="54864"/>
          </a:xfrm>
          <a:prstGeom prst="rect">
            <a:avLst/>
          </a:prstGeom>
          <a:solidFill>
            <a:srgbClr val="2D5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</a:p>
        </p:txBody>
      </p:sp>
      <p:sp>
        <p:nvSpPr>
          <p:cNvPr id="1048649" name="TextBox 7"/>
          <p:cNvSpPr txBox="1"/>
          <p:nvPr/>
        </p:nvSpPr>
        <p:spPr>
          <a:xfrm>
            <a:off x="548640" y="150876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algn="ctr">
              <a:defRPr sz="3600" b="1">
                <a:solidFill>
                  <a:srgbClr val="2D5A3D"/>
                </a:solidFill>
                <a:latin typeface="微软雅黑" panose="020B0503020204020204" charset="-122"/>
              </a:defRPr>
            </a:pPr>
            <a:r>
              <a:t>8,124</a:t>
            </a:r>
          </a:p>
        </p:txBody>
      </p:sp>
      <p:sp>
        <p:nvSpPr>
          <p:cNvPr id="1048650" name="TextBox 8"/>
          <p:cNvSpPr txBox="1"/>
          <p:nvPr/>
        </p:nvSpPr>
        <p:spPr>
          <a:xfrm>
            <a:off x="548640" y="2148840"/>
            <a:ext cx="2560320" cy="29464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algn="ctr">
              <a:defRPr sz="1400" b="0">
                <a:solidFill>
                  <a:srgbClr val="6B6B6B"/>
                </a:solidFill>
                <a:latin typeface="微软雅黑" panose="020B0503020204020204" charset="-122"/>
              </a:defRPr>
            </a:pPr>
            <a:r>
              <a:t>总样本数</a:t>
            </a:r>
          </a:p>
        </p:txBody>
      </p:sp>
      <p:sp>
        <p:nvSpPr>
          <p:cNvPr id="1048651" name="Rectangle 9"/>
          <p:cNvSpPr/>
          <p:nvPr/>
        </p:nvSpPr>
        <p:spPr>
          <a:xfrm>
            <a:off x="3383280" y="1371600"/>
            <a:ext cx="2560320" cy="1280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</a:p>
        </p:txBody>
      </p:sp>
      <p:sp>
        <p:nvSpPr>
          <p:cNvPr id="1048652" name="Rectangle 10"/>
          <p:cNvSpPr/>
          <p:nvPr/>
        </p:nvSpPr>
        <p:spPr>
          <a:xfrm>
            <a:off x="3383280" y="1371600"/>
            <a:ext cx="2560320" cy="54864"/>
          </a:xfrm>
          <a:prstGeom prst="rect">
            <a:avLst/>
          </a:prstGeom>
          <a:solidFill>
            <a:srgbClr val="4A8C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</a:p>
        </p:txBody>
      </p:sp>
      <p:sp>
        <p:nvSpPr>
          <p:cNvPr id="1048653" name="TextBox 11"/>
          <p:cNvSpPr txBox="1"/>
          <p:nvPr/>
        </p:nvSpPr>
        <p:spPr>
          <a:xfrm>
            <a:off x="3383280" y="150876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algn="ctr">
              <a:defRPr sz="3600" b="1">
                <a:solidFill>
                  <a:srgbClr val="4A8C6A"/>
                </a:solidFill>
                <a:latin typeface="微软雅黑" panose="020B0503020204020204" charset="-122"/>
              </a:defRPr>
            </a:pPr>
            <a:r>
              <a:t>22</a:t>
            </a:r>
          </a:p>
        </p:txBody>
      </p:sp>
      <p:sp>
        <p:nvSpPr>
          <p:cNvPr id="1048654" name="TextBox 12"/>
          <p:cNvSpPr txBox="1"/>
          <p:nvPr/>
        </p:nvSpPr>
        <p:spPr>
          <a:xfrm>
            <a:off x="3383280" y="2148840"/>
            <a:ext cx="2560320" cy="29464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algn="ctr">
              <a:defRPr sz="1400" b="0">
                <a:solidFill>
                  <a:srgbClr val="6B6B6B"/>
                </a:solidFill>
                <a:latin typeface="微软雅黑" panose="020B0503020204020204" charset="-122"/>
              </a:defRPr>
            </a:pPr>
            <a:r>
              <a:t>特征数量</a:t>
            </a:r>
          </a:p>
        </p:txBody>
      </p:sp>
      <p:sp>
        <p:nvSpPr>
          <p:cNvPr id="1048655" name="Rectangle 13"/>
          <p:cNvSpPr/>
          <p:nvPr/>
        </p:nvSpPr>
        <p:spPr>
          <a:xfrm>
            <a:off x="6217920" y="1371600"/>
            <a:ext cx="2560320" cy="1280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</a:p>
        </p:txBody>
      </p:sp>
      <p:sp>
        <p:nvSpPr>
          <p:cNvPr id="1048656" name="Rectangle 14"/>
          <p:cNvSpPr/>
          <p:nvPr/>
        </p:nvSpPr>
        <p:spPr>
          <a:xfrm>
            <a:off x="6217920" y="1371600"/>
            <a:ext cx="2560320" cy="54864"/>
          </a:xfrm>
          <a:prstGeom prst="rect">
            <a:avLst/>
          </a:prstGeom>
          <a:solidFill>
            <a:srgbClr val="7BB8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</a:p>
        </p:txBody>
      </p:sp>
      <p:sp>
        <p:nvSpPr>
          <p:cNvPr id="1048657" name="TextBox 15"/>
          <p:cNvSpPr txBox="1"/>
          <p:nvPr/>
        </p:nvSpPr>
        <p:spPr>
          <a:xfrm>
            <a:off x="6217920" y="150876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algn="ctr">
              <a:defRPr sz="3600" b="1">
                <a:solidFill>
                  <a:srgbClr val="7BB898"/>
                </a:solidFill>
                <a:latin typeface="微软雅黑" panose="020B0503020204020204" charset="-122"/>
              </a:defRPr>
            </a:pPr>
            <a:r>
              <a:t>4,208</a:t>
            </a:r>
          </a:p>
        </p:txBody>
      </p:sp>
      <p:sp>
        <p:nvSpPr>
          <p:cNvPr id="1048658" name="TextBox 16"/>
          <p:cNvSpPr txBox="1"/>
          <p:nvPr/>
        </p:nvSpPr>
        <p:spPr>
          <a:xfrm>
            <a:off x="6217920" y="2148840"/>
            <a:ext cx="2560320" cy="29464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algn="ctr">
              <a:defRPr sz="1400" b="0">
                <a:solidFill>
                  <a:srgbClr val="6B6B6B"/>
                </a:solidFill>
                <a:latin typeface="微软雅黑" panose="020B0503020204020204" charset="-122"/>
              </a:defRPr>
            </a:pPr>
            <a:r>
              <a:t>可食用样本</a:t>
            </a:r>
          </a:p>
        </p:txBody>
      </p:sp>
      <p:sp>
        <p:nvSpPr>
          <p:cNvPr id="1048659" name="Rectangle 17"/>
          <p:cNvSpPr/>
          <p:nvPr/>
        </p:nvSpPr>
        <p:spPr>
          <a:xfrm>
            <a:off x="9052560" y="1371600"/>
            <a:ext cx="2560320" cy="1280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</a:p>
        </p:txBody>
      </p:sp>
      <p:sp>
        <p:nvSpPr>
          <p:cNvPr id="1048660" name="Rectangle 18"/>
          <p:cNvSpPr/>
          <p:nvPr/>
        </p:nvSpPr>
        <p:spPr>
          <a:xfrm>
            <a:off x="9052560" y="1371600"/>
            <a:ext cx="2560320" cy="54864"/>
          </a:xfrm>
          <a:prstGeom prst="rect">
            <a:avLst/>
          </a:prstGeom>
          <a:solidFill>
            <a:srgbClr val="C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</a:p>
        </p:txBody>
      </p:sp>
      <p:sp>
        <p:nvSpPr>
          <p:cNvPr id="1048661" name="TextBox 19"/>
          <p:cNvSpPr txBox="1"/>
          <p:nvPr/>
        </p:nvSpPr>
        <p:spPr>
          <a:xfrm>
            <a:off x="9052560" y="150876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algn="ctr">
              <a:defRPr sz="3600" b="1">
                <a:solidFill>
                  <a:srgbClr val="C05050"/>
                </a:solidFill>
                <a:latin typeface="微软雅黑" panose="020B0503020204020204" charset="-122"/>
              </a:defRPr>
            </a:pPr>
            <a:r>
              <a:t>3,916</a:t>
            </a:r>
          </a:p>
        </p:txBody>
      </p:sp>
      <p:sp>
        <p:nvSpPr>
          <p:cNvPr id="1048662" name="TextBox 20"/>
          <p:cNvSpPr txBox="1"/>
          <p:nvPr/>
        </p:nvSpPr>
        <p:spPr>
          <a:xfrm>
            <a:off x="9052560" y="2148840"/>
            <a:ext cx="2560320" cy="29464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algn="ctr">
              <a:defRPr sz="1400" b="0">
                <a:solidFill>
                  <a:srgbClr val="6B6B6B"/>
                </a:solidFill>
                <a:latin typeface="微软雅黑" panose="020B0503020204020204" charset="-122"/>
              </a:defRPr>
            </a:pPr>
            <a:r>
              <a:t>有毒样本</a:t>
            </a:r>
          </a:p>
        </p:txBody>
      </p:sp>
      <p:pic>
        <p:nvPicPr>
          <p:cNvPr id="2097152" name="Picture 21" descr="class_distribution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926080"/>
            <a:ext cx="5029200" cy="3474720"/>
          </a:xfrm>
          <a:prstGeom prst="rect">
            <a:avLst/>
          </a:prstGeom>
        </p:spPr>
      </p:pic>
      <p:graphicFrame>
        <p:nvGraphicFramePr>
          <p:cNvPr id="4194305" name="Table 22"/>
          <p:cNvGraphicFramePr>
            <a:graphicFrameLocks noGrp="1"/>
          </p:cNvGraphicFramePr>
          <p:nvPr/>
        </p:nvGraphicFramePr>
        <p:xfrm>
          <a:off x="5943600" y="2926080"/>
          <a:ext cx="566928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89760"/>
                <a:gridCol w="1889760"/>
                <a:gridCol w="1889760"/>
              </a:tblGrid>
              <a:tr h="496388">
                <a:tc>
                  <a:txBody>
                    <a:bodyPr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特征类别</a:t>
                      </a:r>
                    </a:p>
                  </a:txBody>
                  <a:tcPr>
                    <a:solidFill>
                      <a:srgbClr val="2D5A3D"/>
                    </a:solidFill>
                  </a:tcPr>
                </a:tc>
                <a:tc>
                  <a:txBody>
                    <a:bodyPr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包含特征</a:t>
                      </a:r>
                    </a:p>
                  </a:txBody>
                  <a:tcPr>
                    <a:solidFill>
                      <a:srgbClr val="2D5A3D"/>
                    </a:solidFill>
                  </a:tcPr>
                </a:tc>
                <a:tc>
                  <a:txBody>
                    <a:bodyPr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数量</a:t>
                      </a:r>
                    </a:p>
                  </a:txBody>
                  <a:tcPr>
                    <a:solidFill>
                      <a:srgbClr val="2D5A3D"/>
                    </a:solidFill>
                  </a:tcPr>
                </a:tc>
              </a:tr>
              <a:tr h="496388">
                <a:tc>
                  <a:txBody>
                    <a:bodyPr/>
                    <a:p>
                      <a:pPr algn="ctr">
                        <a:defRPr sz="1200">
                          <a:solidFill>
                            <a:srgbClr val="2C2C2C"/>
                          </a:solidFill>
                          <a:latin typeface="微软雅黑" panose="020B0503020204020204" charset="-122"/>
                        </a:defRPr>
                      </a:pPr>
                      <a:r>
                        <a:t>菌盖相关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>
                        <a:defRPr sz="1200">
                          <a:solidFill>
                            <a:srgbClr val="2C2C2C"/>
                          </a:solidFill>
                          <a:latin typeface="微软雅黑" panose="020B0503020204020204" charset="-122"/>
                        </a:defRPr>
                      </a:pPr>
                      <a:r>
                        <a:t>形状、表面、颜色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>
                        <a:defRPr sz="1200">
                          <a:solidFill>
                            <a:srgbClr val="2C2C2C"/>
                          </a:solidFill>
                          <a:latin typeface="微软雅黑" panose="020B0503020204020204" charset="-122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6388">
                <a:tc>
                  <a:txBody>
                    <a:bodyPr/>
                    <a:p>
                      <a:pPr algn="ctr">
                        <a:defRPr sz="1200">
                          <a:solidFill>
                            <a:srgbClr val="2C2C2C"/>
                          </a:solidFill>
                          <a:latin typeface="微软雅黑" panose="020B0503020204020204" charset="-122"/>
                        </a:defRPr>
                      </a:pPr>
                      <a:r>
                        <a:t>菌褶相关</a:t>
                      </a:r>
                    </a:p>
                  </a:txBody>
                  <a:tcPr>
                    <a:solidFill>
                      <a:srgbClr val="D4E8DC"/>
                    </a:solidFill>
                  </a:tcPr>
                </a:tc>
                <a:tc>
                  <a:txBody>
                    <a:bodyPr/>
                    <a:p>
                      <a:pPr algn="ctr">
                        <a:defRPr sz="1200">
                          <a:solidFill>
                            <a:srgbClr val="2C2C2C"/>
                          </a:solidFill>
                          <a:latin typeface="微软雅黑" panose="020B0503020204020204" charset="-122"/>
                        </a:defRPr>
                      </a:pPr>
                      <a:r>
                        <a:t>附着方式、间距、大小、颜色</a:t>
                      </a:r>
                    </a:p>
                  </a:txBody>
                  <a:tcPr>
                    <a:solidFill>
                      <a:srgbClr val="D4E8DC"/>
                    </a:solidFill>
                  </a:tcPr>
                </a:tc>
                <a:tc>
                  <a:txBody>
                    <a:bodyPr/>
                    <a:p>
                      <a:pPr algn="ctr">
                        <a:defRPr sz="1200">
                          <a:solidFill>
                            <a:srgbClr val="2C2C2C"/>
                          </a:solidFill>
                          <a:latin typeface="微软雅黑" panose="020B0503020204020204" charset="-122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D4E8DC"/>
                    </a:solidFill>
                  </a:tcPr>
                </a:tc>
              </a:tr>
              <a:tr h="496388">
                <a:tc>
                  <a:txBody>
                    <a:bodyPr/>
                    <a:p>
                      <a:pPr algn="ctr">
                        <a:defRPr sz="1200">
                          <a:solidFill>
                            <a:srgbClr val="2C2C2C"/>
                          </a:solidFill>
                          <a:latin typeface="微软雅黑" panose="020B0503020204020204" charset="-122"/>
                        </a:defRPr>
                      </a:pPr>
                      <a:r>
                        <a:t>菌柄相关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>
                        <a:defRPr sz="1200">
                          <a:solidFill>
                            <a:srgbClr val="2C2C2C"/>
                          </a:solidFill>
                          <a:latin typeface="微软雅黑" panose="020B0503020204020204" charset="-122"/>
                        </a:defRPr>
                      </a:pPr>
                      <a:r>
                        <a:t>形状、根部、表面(环上/下)、颜色(环上/下)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>
                        <a:defRPr sz="1200">
                          <a:solidFill>
                            <a:srgbClr val="2C2C2C"/>
                          </a:solidFill>
                          <a:latin typeface="微软雅黑" panose="020B0503020204020204" charset="-122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6388">
                <a:tc>
                  <a:txBody>
                    <a:bodyPr/>
                    <a:p>
                      <a:pPr algn="ctr">
                        <a:defRPr sz="1200">
                          <a:solidFill>
                            <a:srgbClr val="2C2C2C"/>
                          </a:solidFill>
                          <a:latin typeface="微软雅黑" panose="020B0503020204020204" charset="-122"/>
                        </a:defRPr>
                      </a:pPr>
                      <a:r>
                        <a:t>菌幕/菌环</a:t>
                      </a:r>
                    </a:p>
                  </a:txBody>
                  <a:tcPr>
                    <a:solidFill>
                      <a:srgbClr val="D4E8DC"/>
                    </a:solidFill>
                  </a:tcPr>
                </a:tc>
                <a:tc>
                  <a:txBody>
                    <a:bodyPr/>
                    <a:p>
                      <a:pPr algn="ctr">
                        <a:defRPr sz="1200">
                          <a:solidFill>
                            <a:srgbClr val="2C2C2C"/>
                          </a:solidFill>
                          <a:latin typeface="微软雅黑" panose="020B0503020204020204" charset="-122"/>
                        </a:defRPr>
                      </a:pPr>
                      <a:r>
                        <a:t>菌幕类型/颜色、菌环数量/类型</a:t>
                      </a:r>
                    </a:p>
                  </a:txBody>
                  <a:tcPr>
                    <a:solidFill>
                      <a:srgbClr val="D4E8DC"/>
                    </a:solidFill>
                  </a:tcPr>
                </a:tc>
                <a:tc>
                  <a:txBody>
                    <a:bodyPr/>
                    <a:p>
                      <a:pPr algn="ctr">
                        <a:defRPr sz="1200">
                          <a:solidFill>
                            <a:srgbClr val="2C2C2C"/>
                          </a:solidFill>
                          <a:latin typeface="微软雅黑" panose="020B0503020204020204" charset="-122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D4E8DC"/>
                    </a:solidFill>
                  </a:tcPr>
                </a:tc>
              </a:tr>
              <a:tr h="496388">
                <a:tc>
                  <a:txBody>
                    <a:bodyPr/>
                    <a:p>
                      <a:pPr algn="ctr">
                        <a:defRPr sz="1200">
                          <a:solidFill>
                            <a:srgbClr val="2C2C2C"/>
                          </a:solidFill>
                          <a:latin typeface="微软雅黑" panose="020B0503020204020204" charset="-122"/>
                        </a:defRPr>
                      </a:pPr>
                      <a:r>
                        <a:t>其他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>
                        <a:defRPr sz="1200">
                          <a:solidFill>
                            <a:srgbClr val="2C2C2C"/>
                          </a:solidFill>
                          <a:latin typeface="微软雅黑" panose="020B0503020204020204" charset="-122"/>
                        </a:defRPr>
                      </a:pPr>
                      <a:r>
                        <a:t>气味、瘀伤、孢子印颜色、种群、栖息地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>
                        <a:defRPr sz="1200">
                          <a:solidFill>
                            <a:srgbClr val="2C2C2C"/>
                          </a:solidFill>
                          <a:latin typeface="微软雅黑" panose="020B0503020204020204" charset="-122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6392">
                <a:tc>
                  <a:txBody>
                    <a:bodyPr/>
                    <a:p>
                      <a:pPr algn="ctr">
                        <a:defRPr sz="1200">
                          <a:solidFill>
                            <a:srgbClr val="2C2C2C"/>
                          </a:solidFill>
                          <a:latin typeface="微软雅黑" panose="020B0503020204020204" charset="-122"/>
                        </a:defRPr>
                      </a:pPr>
                      <a:r>
                        <a:t>veil-type</a:t>
                      </a:r>
                    </a:p>
                  </a:txBody>
                  <a:tcPr>
                    <a:solidFill>
                      <a:srgbClr val="D4E8DC"/>
                    </a:solidFill>
                  </a:tcPr>
                </a:tc>
                <a:tc>
                  <a:txBody>
                    <a:bodyPr/>
                    <a:p>
                      <a:pPr algn="ctr">
                        <a:defRPr sz="1200">
                          <a:solidFill>
                            <a:srgbClr val="2C2C2C"/>
                          </a:solidFill>
                          <a:latin typeface="微软雅黑" panose="020B0503020204020204" charset="-122"/>
                        </a:defRPr>
                      </a:pPr>
                      <a:r>
                        <a:t>仅一个取值(p)，无区分度</a:t>
                      </a:r>
                    </a:p>
                  </a:txBody>
                  <a:tcPr>
                    <a:solidFill>
                      <a:srgbClr val="D4E8DC"/>
                    </a:solidFill>
                  </a:tcPr>
                </a:tc>
                <a:tc>
                  <a:txBody>
                    <a:bodyPr/>
                    <a:p>
                      <a:pPr algn="ctr">
                        <a:defRPr sz="1200">
                          <a:solidFill>
                            <a:srgbClr val="2C2C2C"/>
                          </a:solidFill>
                          <a:latin typeface="微软雅黑" panose="020B0503020204020204" charset="-122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4E8D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0"/>
        </a:solidFill>
        <a:effectLst/>
      </p:bgPr>
    </p:bg>
    <p:spTree>
      <p:nvGrpSpPr>
        <p:cNvPr id="38" name=""/>
        <p:cNvGrpSpPr/>
        <p:nvPr/>
      </p:nvGrpSpPr>
      <p:grpSpPr/>
      <p:sp>
        <p:nvSpPr>
          <p:cNvPr id="1048663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D5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</a:p>
        </p:txBody>
      </p:sp>
      <p:sp>
        <p:nvSpPr>
          <p:cNvPr id="1048664" name="TextBox 2"/>
          <p:cNvSpPr txBox="1"/>
          <p:nvPr/>
        </p:nvSpPr>
        <p:spPr>
          <a:xfrm>
            <a:off x="548640" y="137160"/>
            <a:ext cx="10058400" cy="57404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algn="l">
              <a:defRPr sz="32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主要使用 Packages</a:t>
            </a:r>
          </a:p>
        </p:txBody>
      </p:sp>
      <p:sp>
        <p:nvSpPr>
          <p:cNvPr id="1048665" name="TextBox 3"/>
          <p:cNvSpPr txBox="1"/>
          <p:nvPr/>
        </p:nvSpPr>
        <p:spPr>
          <a:xfrm>
            <a:off x="548640" y="685800"/>
            <a:ext cx="10058400" cy="29464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algn="l">
              <a:defRPr sz="1400" b="0">
                <a:solidFill>
                  <a:srgbClr val="D4E8DC"/>
                </a:solidFill>
                <a:latin typeface="微软雅黑" panose="020B0503020204020204" charset="-122"/>
              </a:defRPr>
            </a:pPr>
            <a:r>
              <a:t>Technology Stack — Python 生态系统</a:t>
            </a:r>
          </a:p>
        </p:txBody>
      </p:sp>
      <p:sp>
        <p:nvSpPr>
          <p:cNvPr id="1048666" name="Rectangle 4"/>
          <p:cNvSpPr/>
          <p:nvPr/>
        </p:nvSpPr>
        <p:spPr>
          <a:xfrm>
            <a:off x="0" y="1097280"/>
            <a:ext cx="12191695" cy="36576"/>
          </a:xfrm>
          <a:prstGeom prst="rect">
            <a:avLst/>
          </a:prstGeom>
          <a:solidFill>
            <a:srgbClr val="C895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</a:p>
        </p:txBody>
      </p:sp>
      <p:sp>
        <p:nvSpPr>
          <p:cNvPr id="1048667" name="Rectangle 5"/>
          <p:cNvSpPr/>
          <p:nvPr/>
        </p:nvSpPr>
        <p:spPr>
          <a:xfrm>
            <a:off x="457200" y="1371600"/>
            <a:ext cx="11247120" cy="658368"/>
          </a:xfrm>
          <a:prstGeom prst="rect">
            <a:avLst/>
          </a:prstGeom>
          <a:solidFill>
            <a:srgbClr val="D4E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</a:p>
        </p:txBody>
      </p:sp>
      <p:sp>
        <p:nvSpPr>
          <p:cNvPr id="1048668" name="TextBox 6"/>
          <p:cNvSpPr txBox="1"/>
          <p:nvPr/>
        </p:nvSpPr>
        <p:spPr>
          <a:xfrm>
            <a:off x="640080" y="1417320"/>
            <a:ext cx="457200" cy="70104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algn="ctr">
              <a:defRPr sz="2000" b="0">
                <a:solidFill>
                  <a:srgbClr val="2C2C2C"/>
                </a:solidFill>
                <a:latin typeface="微软雅黑" panose="020B0503020204020204" charset="-122"/>
              </a:defRPr>
            </a:pPr>
            <a:r>
              <a:t>📦</a:t>
            </a:r>
          </a:p>
        </p:txBody>
      </p:sp>
      <p:sp>
        <p:nvSpPr>
          <p:cNvPr id="1048669" name="TextBox 7"/>
          <p:cNvSpPr txBox="1"/>
          <p:nvPr/>
        </p:nvSpPr>
        <p:spPr>
          <a:xfrm>
            <a:off x="1188720" y="141732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algn="l">
              <a:defRPr sz="1500" b="1">
                <a:solidFill>
                  <a:srgbClr val="1A2F23"/>
                </a:solidFill>
                <a:latin typeface="微软雅黑" panose="020B0503020204020204" charset="-122"/>
              </a:defRPr>
            </a:pPr>
            <a:r>
              <a:t>pandas ≥1.3.0</a:t>
            </a:r>
          </a:p>
        </p:txBody>
      </p:sp>
      <p:sp>
        <p:nvSpPr>
          <p:cNvPr id="1048670" name="TextBox 8"/>
          <p:cNvSpPr txBox="1"/>
          <p:nvPr/>
        </p:nvSpPr>
        <p:spPr>
          <a:xfrm>
            <a:off x="3931920" y="1417320"/>
            <a:ext cx="1371600" cy="28194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algn="l">
              <a:defRPr sz="1300" b="1">
                <a:solidFill>
                  <a:srgbClr val="4A8C6A"/>
                </a:solidFill>
                <a:latin typeface="微软雅黑" panose="020B0503020204020204" charset="-122"/>
              </a:defRPr>
            </a:pPr>
            <a:r>
              <a:t>数据处理</a:t>
            </a:r>
          </a:p>
        </p:txBody>
      </p:sp>
      <p:sp>
        <p:nvSpPr>
          <p:cNvPr id="1048671" name="TextBox 9"/>
          <p:cNvSpPr txBox="1"/>
          <p:nvPr/>
        </p:nvSpPr>
        <p:spPr>
          <a:xfrm>
            <a:off x="5486400" y="1417320"/>
            <a:ext cx="5943600" cy="28194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algn="l">
              <a:defRPr sz="1300" b="0">
                <a:solidFill>
                  <a:srgbClr val="6B6B6B"/>
                </a:solidFill>
                <a:latin typeface="微软雅黑" panose="020B0503020204020204" charset="-122"/>
              </a:defRPr>
            </a:pPr>
            <a:r>
              <a:t>数据读取、清洗、表格操作，是数据分析的核心库</a:t>
            </a:r>
          </a:p>
        </p:txBody>
      </p:sp>
      <p:sp>
        <p:nvSpPr>
          <p:cNvPr id="1048672" name="TextBox 10"/>
          <p:cNvSpPr txBox="1"/>
          <p:nvPr/>
        </p:nvSpPr>
        <p:spPr>
          <a:xfrm>
            <a:off x="640080" y="2130552"/>
            <a:ext cx="457200" cy="701039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algn="ctr">
              <a:defRPr sz="2000" b="0">
                <a:solidFill>
                  <a:srgbClr val="2C2C2C"/>
                </a:solidFill>
                <a:latin typeface="微软雅黑" panose="020B0503020204020204" charset="-122"/>
              </a:defRPr>
            </a:pPr>
            <a:r>
              <a:t>🔢</a:t>
            </a:r>
          </a:p>
        </p:txBody>
      </p:sp>
      <p:sp>
        <p:nvSpPr>
          <p:cNvPr id="1048673" name="TextBox 11"/>
          <p:cNvSpPr txBox="1"/>
          <p:nvPr/>
        </p:nvSpPr>
        <p:spPr>
          <a:xfrm>
            <a:off x="1188720" y="2130552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algn="l">
              <a:defRPr sz="1500" b="1">
                <a:solidFill>
                  <a:srgbClr val="1A2F23"/>
                </a:solidFill>
                <a:latin typeface="微软雅黑" panose="020B0503020204020204" charset="-122"/>
              </a:defRPr>
            </a:pPr>
            <a:r>
              <a:t>numpy ≥1.21.0</a:t>
            </a:r>
          </a:p>
        </p:txBody>
      </p:sp>
      <p:sp>
        <p:nvSpPr>
          <p:cNvPr id="1048674" name="TextBox 12"/>
          <p:cNvSpPr txBox="1"/>
          <p:nvPr/>
        </p:nvSpPr>
        <p:spPr>
          <a:xfrm>
            <a:off x="3931920" y="2130552"/>
            <a:ext cx="1371600" cy="28194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algn="l">
              <a:defRPr sz="1300" b="1">
                <a:solidFill>
                  <a:srgbClr val="4A8C6A"/>
                </a:solidFill>
                <a:latin typeface="微软雅黑" panose="020B0503020204020204" charset="-122"/>
              </a:defRPr>
            </a:pPr>
            <a:r>
              <a:t>数值计算</a:t>
            </a:r>
          </a:p>
        </p:txBody>
      </p:sp>
      <p:sp>
        <p:nvSpPr>
          <p:cNvPr id="1048675" name="TextBox 13"/>
          <p:cNvSpPr txBox="1"/>
          <p:nvPr/>
        </p:nvSpPr>
        <p:spPr>
          <a:xfrm>
            <a:off x="5486400" y="2130552"/>
            <a:ext cx="5943600" cy="28194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algn="l">
              <a:defRPr sz="1300" b="0">
                <a:solidFill>
                  <a:srgbClr val="6B6B6B"/>
                </a:solidFill>
                <a:latin typeface="微软雅黑" panose="020B0503020204020204" charset="-122"/>
              </a:defRPr>
            </a:pPr>
            <a:r>
              <a:t>提供高效的多维数组运算，是其他库的基础依赖</a:t>
            </a:r>
          </a:p>
        </p:txBody>
      </p:sp>
      <p:sp>
        <p:nvSpPr>
          <p:cNvPr id="1048676" name="Rectangle 14"/>
          <p:cNvSpPr/>
          <p:nvPr/>
        </p:nvSpPr>
        <p:spPr>
          <a:xfrm>
            <a:off x="457200" y="2798064"/>
            <a:ext cx="11247120" cy="658368"/>
          </a:xfrm>
          <a:prstGeom prst="rect">
            <a:avLst/>
          </a:prstGeom>
          <a:solidFill>
            <a:srgbClr val="D4E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</a:p>
        </p:txBody>
      </p:sp>
      <p:sp>
        <p:nvSpPr>
          <p:cNvPr id="1048677" name="TextBox 15"/>
          <p:cNvSpPr txBox="1"/>
          <p:nvPr/>
        </p:nvSpPr>
        <p:spPr>
          <a:xfrm>
            <a:off x="640080" y="2843784"/>
            <a:ext cx="457200" cy="701039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algn="ctr">
              <a:defRPr sz="2000" b="0">
                <a:solidFill>
                  <a:srgbClr val="2C2C2C"/>
                </a:solidFill>
                <a:latin typeface="微软雅黑" panose="020B0503020204020204" charset="-122"/>
              </a:defRPr>
            </a:pPr>
            <a:r>
              <a:t>📊</a:t>
            </a:r>
          </a:p>
        </p:txBody>
      </p:sp>
      <p:sp>
        <p:nvSpPr>
          <p:cNvPr id="1048678" name="TextBox 16"/>
          <p:cNvSpPr txBox="1"/>
          <p:nvPr/>
        </p:nvSpPr>
        <p:spPr>
          <a:xfrm>
            <a:off x="1188720" y="2843784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algn="l">
              <a:defRPr sz="1500" b="1">
                <a:solidFill>
                  <a:srgbClr val="1A2F23"/>
                </a:solidFill>
                <a:latin typeface="微软雅黑" panose="020B0503020204020204" charset="-122"/>
              </a:defRPr>
            </a:pPr>
            <a:r>
              <a:t>matplotlib ≥3.4.0</a:t>
            </a:r>
          </a:p>
        </p:txBody>
      </p:sp>
      <p:sp>
        <p:nvSpPr>
          <p:cNvPr id="1048679" name="TextBox 17"/>
          <p:cNvSpPr txBox="1"/>
          <p:nvPr/>
        </p:nvSpPr>
        <p:spPr>
          <a:xfrm>
            <a:off x="3931920" y="2843784"/>
            <a:ext cx="1371600" cy="281941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algn="l">
              <a:defRPr sz="1300" b="1">
                <a:solidFill>
                  <a:srgbClr val="4A8C6A"/>
                </a:solidFill>
                <a:latin typeface="微软雅黑" panose="020B0503020204020204" charset="-122"/>
              </a:defRPr>
            </a:pPr>
            <a:r>
              <a:t>基础绑图</a:t>
            </a:r>
          </a:p>
        </p:txBody>
      </p:sp>
      <p:sp>
        <p:nvSpPr>
          <p:cNvPr id="1048680" name="TextBox 18"/>
          <p:cNvSpPr txBox="1"/>
          <p:nvPr/>
        </p:nvSpPr>
        <p:spPr>
          <a:xfrm>
            <a:off x="5486400" y="2843784"/>
            <a:ext cx="5943600" cy="28194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algn="l">
              <a:defRPr sz="1300" b="0">
                <a:solidFill>
                  <a:srgbClr val="6B6B6B"/>
                </a:solidFill>
                <a:latin typeface="微软雅黑" panose="020B0503020204020204" charset="-122"/>
              </a:defRPr>
            </a:pPr>
            <a:r>
              <a:t>Python 最常用的绑图库，生成各种统计图表</a:t>
            </a:r>
          </a:p>
        </p:txBody>
      </p:sp>
      <p:sp>
        <p:nvSpPr>
          <p:cNvPr id="1048681" name="TextBox 19"/>
          <p:cNvSpPr txBox="1"/>
          <p:nvPr/>
        </p:nvSpPr>
        <p:spPr>
          <a:xfrm>
            <a:off x="640080" y="3557016"/>
            <a:ext cx="457200" cy="701039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algn="ctr">
              <a:defRPr sz="2000" b="0">
                <a:solidFill>
                  <a:srgbClr val="2C2C2C"/>
                </a:solidFill>
                <a:latin typeface="微软雅黑" panose="020B0503020204020204" charset="-122"/>
              </a:defRPr>
            </a:pPr>
            <a:r>
              <a:t>🎨</a:t>
            </a:r>
          </a:p>
        </p:txBody>
      </p:sp>
      <p:sp>
        <p:nvSpPr>
          <p:cNvPr id="1048682" name="TextBox 20"/>
          <p:cNvSpPr txBox="1"/>
          <p:nvPr/>
        </p:nvSpPr>
        <p:spPr>
          <a:xfrm>
            <a:off x="1188720" y="3557016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algn="l">
              <a:defRPr sz="1500" b="1">
                <a:solidFill>
                  <a:srgbClr val="1A2F23"/>
                </a:solidFill>
                <a:latin typeface="微软雅黑" panose="020B0503020204020204" charset="-122"/>
              </a:defRPr>
            </a:pPr>
            <a:r>
              <a:t>seaborn ≥0.11.0</a:t>
            </a:r>
          </a:p>
        </p:txBody>
      </p:sp>
      <p:sp>
        <p:nvSpPr>
          <p:cNvPr id="1048683" name="TextBox 21"/>
          <p:cNvSpPr txBox="1"/>
          <p:nvPr/>
        </p:nvSpPr>
        <p:spPr>
          <a:xfrm>
            <a:off x="3931920" y="3557016"/>
            <a:ext cx="1371600" cy="28194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algn="l">
              <a:defRPr sz="1300" b="1">
                <a:solidFill>
                  <a:srgbClr val="4A8C6A"/>
                </a:solidFill>
                <a:latin typeface="微软雅黑" panose="020B0503020204020204" charset="-122"/>
              </a:defRPr>
            </a:pPr>
            <a:r>
              <a:t>高级可视化</a:t>
            </a:r>
          </a:p>
        </p:txBody>
      </p:sp>
      <p:sp>
        <p:nvSpPr>
          <p:cNvPr id="1048684" name="TextBox 22"/>
          <p:cNvSpPr txBox="1"/>
          <p:nvPr/>
        </p:nvSpPr>
        <p:spPr>
          <a:xfrm>
            <a:off x="5486400" y="3557016"/>
            <a:ext cx="5943600" cy="28194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algn="l">
              <a:defRPr sz="1300" b="0">
                <a:solidFill>
                  <a:srgbClr val="6B6B6B"/>
                </a:solidFill>
                <a:latin typeface="微软雅黑" panose="020B0503020204020204" charset="-122"/>
              </a:defRPr>
            </a:pPr>
            <a:r>
              <a:t>基于 matplotlib，提供更美观的统计图表</a:t>
            </a:r>
          </a:p>
        </p:txBody>
      </p:sp>
      <p:sp>
        <p:nvSpPr>
          <p:cNvPr id="1048685" name="Rectangle 23"/>
          <p:cNvSpPr/>
          <p:nvPr/>
        </p:nvSpPr>
        <p:spPr>
          <a:xfrm>
            <a:off x="457200" y="4224528"/>
            <a:ext cx="11247120" cy="658368"/>
          </a:xfrm>
          <a:prstGeom prst="rect">
            <a:avLst/>
          </a:prstGeom>
          <a:solidFill>
            <a:srgbClr val="D4E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</a:p>
        </p:txBody>
      </p:sp>
      <p:sp>
        <p:nvSpPr>
          <p:cNvPr id="1048686" name="TextBox 24"/>
          <p:cNvSpPr txBox="1"/>
          <p:nvPr/>
        </p:nvSpPr>
        <p:spPr>
          <a:xfrm>
            <a:off x="640080" y="4270248"/>
            <a:ext cx="457200" cy="701039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algn="ctr">
              <a:defRPr sz="2000" b="0">
                <a:solidFill>
                  <a:srgbClr val="2C2C2C"/>
                </a:solidFill>
                <a:latin typeface="微软雅黑" panose="020B0503020204020204" charset="-122"/>
              </a:defRPr>
            </a:pPr>
            <a:r>
              <a:t>🤖</a:t>
            </a:r>
          </a:p>
        </p:txBody>
      </p:sp>
      <p:sp>
        <p:nvSpPr>
          <p:cNvPr id="1048687" name="TextBox 25"/>
          <p:cNvSpPr txBox="1"/>
          <p:nvPr/>
        </p:nvSpPr>
        <p:spPr>
          <a:xfrm>
            <a:off x="1188720" y="4270248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algn="l">
              <a:defRPr sz="1500" b="1">
                <a:solidFill>
                  <a:srgbClr val="1A2F23"/>
                </a:solidFill>
                <a:latin typeface="微软雅黑" panose="020B0503020204020204" charset="-122"/>
              </a:defRPr>
            </a:pPr>
            <a:r>
              <a:t>scikit-learn ≥0.24.0</a:t>
            </a:r>
          </a:p>
        </p:txBody>
      </p:sp>
      <p:sp>
        <p:nvSpPr>
          <p:cNvPr id="1048688" name="TextBox 26"/>
          <p:cNvSpPr txBox="1"/>
          <p:nvPr/>
        </p:nvSpPr>
        <p:spPr>
          <a:xfrm>
            <a:off x="3931920" y="4270248"/>
            <a:ext cx="1371600" cy="28194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algn="l">
              <a:defRPr sz="1300" b="1">
                <a:solidFill>
                  <a:srgbClr val="4A8C6A"/>
                </a:solidFill>
                <a:latin typeface="微软雅黑" panose="020B0503020204020204" charset="-122"/>
              </a:defRPr>
            </a:pPr>
            <a:r>
              <a:t>机器学习</a:t>
            </a:r>
          </a:p>
        </p:txBody>
      </p:sp>
      <p:sp>
        <p:nvSpPr>
          <p:cNvPr id="1048689" name="TextBox 27"/>
          <p:cNvSpPr txBox="1"/>
          <p:nvPr/>
        </p:nvSpPr>
        <p:spPr>
          <a:xfrm>
            <a:off x="5486400" y="4270248"/>
            <a:ext cx="5943600" cy="28194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algn="l">
              <a:defRPr sz="1300" b="0">
                <a:solidFill>
                  <a:srgbClr val="6B6B6B"/>
                </a:solidFill>
                <a:latin typeface="微软雅黑" panose="020B0503020204020204" charset="-122"/>
              </a:defRPr>
            </a:pPr>
            <a:r>
              <a:t>包含数据预处理、6种分类模型、评估指标等完整 ML 工具链</a:t>
            </a:r>
          </a:p>
        </p:txBody>
      </p:sp>
      <p:sp>
        <p:nvSpPr>
          <p:cNvPr id="1048690" name="TextBox 28"/>
          <p:cNvSpPr txBox="1"/>
          <p:nvPr/>
        </p:nvSpPr>
        <p:spPr>
          <a:xfrm>
            <a:off x="640080" y="4983480"/>
            <a:ext cx="457200" cy="701039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algn="ctr">
              <a:defRPr sz="2000" b="0">
                <a:solidFill>
                  <a:srgbClr val="2C2C2C"/>
                </a:solidFill>
                <a:latin typeface="微软雅黑" panose="020B0503020204020204" charset="-122"/>
              </a:defRPr>
            </a:pPr>
            <a:r>
              <a:t>📓</a:t>
            </a:r>
          </a:p>
        </p:txBody>
      </p:sp>
      <p:sp>
        <p:nvSpPr>
          <p:cNvPr id="1048691" name="TextBox 29"/>
          <p:cNvSpPr txBox="1"/>
          <p:nvPr/>
        </p:nvSpPr>
        <p:spPr>
          <a:xfrm>
            <a:off x="1188720" y="498348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algn="l">
              <a:defRPr sz="1500" b="1">
                <a:solidFill>
                  <a:srgbClr val="1A2F23"/>
                </a:solidFill>
                <a:latin typeface="微软雅黑" panose="020B0503020204020204" charset="-122"/>
              </a:defRPr>
            </a:pPr>
            <a:r>
              <a:t>jupyter ≥1.0.0</a:t>
            </a:r>
          </a:p>
        </p:txBody>
      </p:sp>
      <p:sp>
        <p:nvSpPr>
          <p:cNvPr id="1048692" name="TextBox 30"/>
          <p:cNvSpPr txBox="1"/>
          <p:nvPr/>
        </p:nvSpPr>
        <p:spPr>
          <a:xfrm>
            <a:off x="3931920" y="4983480"/>
            <a:ext cx="1371600" cy="28194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algn="l">
              <a:defRPr sz="1300" b="1">
                <a:solidFill>
                  <a:srgbClr val="4A8C6A"/>
                </a:solidFill>
                <a:latin typeface="微软雅黑" panose="020B0503020204020204" charset="-122"/>
              </a:defRPr>
            </a:pPr>
            <a:r>
              <a:t>交互式开发</a:t>
            </a:r>
          </a:p>
        </p:txBody>
      </p:sp>
      <p:sp>
        <p:nvSpPr>
          <p:cNvPr id="1048693" name="TextBox 31"/>
          <p:cNvSpPr txBox="1"/>
          <p:nvPr/>
        </p:nvSpPr>
        <p:spPr>
          <a:xfrm>
            <a:off x="5486400" y="4983480"/>
            <a:ext cx="5943600" cy="28194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algn="l">
              <a:defRPr sz="1300" b="0">
                <a:solidFill>
                  <a:srgbClr val="6B6B6B"/>
                </a:solidFill>
                <a:latin typeface="微软雅黑" panose="020B0503020204020204" charset="-122"/>
              </a:defRPr>
            </a:pPr>
            <a:r>
              <a:t>交互式笔记本环境，便于探索性分析和代码调试</a:t>
            </a:r>
          </a:p>
        </p:txBody>
      </p:sp>
      <p:sp>
        <p:nvSpPr>
          <p:cNvPr id="1048694" name="Rectangle 32"/>
          <p:cNvSpPr/>
          <p:nvPr/>
        </p:nvSpPr>
        <p:spPr>
          <a:xfrm>
            <a:off x="457200" y="5650992"/>
            <a:ext cx="11247120" cy="658368"/>
          </a:xfrm>
          <a:prstGeom prst="rect">
            <a:avLst/>
          </a:prstGeom>
          <a:solidFill>
            <a:srgbClr val="D4E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</a:p>
        </p:txBody>
      </p:sp>
      <p:sp>
        <p:nvSpPr>
          <p:cNvPr id="1048695" name="TextBox 33"/>
          <p:cNvSpPr txBox="1"/>
          <p:nvPr/>
        </p:nvSpPr>
        <p:spPr>
          <a:xfrm>
            <a:off x="640080" y="5696712"/>
            <a:ext cx="457200" cy="70104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algn="ctr">
              <a:defRPr sz="2000" b="0">
                <a:solidFill>
                  <a:srgbClr val="2C2C2C"/>
                </a:solidFill>
                <a:latin typeface="微软雅黑" panose="020B0503020204020204" charset="-122"/>
              </a:defRPr>
            </a:pPr>
            <a:r>
              <a:t>⚡</a:t>
            </a:r>
          </a:p>
        </p:txBody>
      </p:sp>
      <p:sp>
        <p:nvSpPr>
          <p:cNvPr id="1048696" name="TextBox 34"/>
          <p:cNvSpPr txBox="1"/>
          <p:nvPr/>
        </p:nvSpPr>
        <p:spPr>
          <a:xfrm>
            <a:off x="1188720" y="5696712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algn="l">
              <a:defRPr sz="1500" b="1">
                <a:solidFill>
                  <a:srgbClr val="1A2F23"/>
                </a:solidFill>
                <a:latin typeface="微软雅黑" panose="020B0503020204020204" charset="-122"/>
              </a:defRPr>
            </a:pPr>
            <a:r>
              <a:t>ipykernel ≥6.0.0</a:t>
            </a:r>
          </a:p>
        </p:txBody>
      </p:sp>
      <p:sp>
        <p:nvSpPr>
          <p:cNvPr id="1048697" name="TextBox 35"/>
          <p:cNvSpPr txBox="1"/>
          <p:nvPr/>
        </p:nvSpPr>
        <p:spPr>
          <a:xfrm>
            <a:off x="3931920" y="5696712"/>
            <a:ext cx="1371600" cy="28194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algn="l">
              <a:defRPr sz="1300" b="1">
                <a:solidFill>
                  <a:srgbClr val="4A8C6A"/>
                </a:solidFill>
                <a:latin typeface="微软雅黑" panose="020B0503020204020204" charset="-122"/>
              </a:defRPr>
            </a:pPr>
            <a:r>
              <a:t>Jupyter 内核</a:t>
            </a:r>
          </a:p>
        </p:txBody>
      </p:sp>
      <p:sp>
        <p:nvSpPr>
          <p:cNvPr id="1048698" name="TextBox 36"/>
          <p:cNvSpPr txBox="1"/>
          <p:nvPr/>
        </p:nvSpPr>
        <p:spPr>
          <a:xfrm>
            <a:off x="5486400" y="5696712"/>
            <a:ext cx="5943600" cy="28194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algn="l">
              <a:defRPr sz="1300" b="0">
                <a:solidFill>
                  <a:srgbClr val="6B6B6B"/>
                </a:solidFill>
                <a:latin typeface="微软雅黑" panose="020B0503020204020204" charset="-122"/>
              </a:defRPr>
            </a:pPr>
            <a:r>
              <a:t>Jupyter 的 Python 执行引擎，负责运行代码并返回结果</a:t>
            </a:r>
          </a:p>
        </p:txBody>
      </p:sp>
      <p:sp>
        <p:nvSpPr>
          <p:cNvPr id="1048699" name="TextBox 37"/>
          <p:cNvSpPr txBox="1"/>
          <p:nvPr/>
        </p:nvSpPr>
        <p:spPr>
          <a:xfrm>
            <a:off x="731520" y="6400800"/>
            <a:ext cx="10972800" cy="281941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algn="l">
              <a:defRPr sz="1300" b="1">
                <a:solidFill>
                  <a:srgbClr val="C8956C"/>
                </a:solidFill>
                <a:latin typeface="微软雅黑" panose="020B0503020204020204" charset="-122"/>
              </a:defRPr>
            </a:pPr>
            <a:r>
              <a:t>💡 交互式仪表盘额外使用：Chart.js (CDN) · Google Fonts · CSS Grid/Flexbox · 原生 JavaScript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0"/>
        </a:solidFill>
        <a:effectLst/>
      </p:bgPr>
    </p:bg>
    <p:spTree>
      <p:nvGrpSpPr>
        <p:cNvPr id="39" name=""/>
        <p:cNvGrpSpPr/>
        <p:nvPr/>
      </p:nvGrpSpPr>
      <p:grpSpPr/>
      <p:sp>
        <p:nvSpPr>
          <p:cNvPr id="1048700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D5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</a:p>
        </p:txBody>
      </p:sp>
      <p:sp>
        <p:nvSpPr>
          <p:cNvPr id="1048701" name="TextBox 2"/>
          <p:cNvSpPr txBox="1"/>
          <p:nvPr/>
        </p:nvSpPr>
        <p:spPr>
          <a:xfrm>
            <a:off x="548640" y="137160"/>
            <a:ext cx="10058400" cy="57404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algn="l">
              <a:defRPr sz="32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数据处理流程</a:t>
            </a:r>
          </a:p>
        </p:txBody>
      </p:sp>
      <p:sp>
        <p:nvSpPr>
          <p:cNvPr id="1048702" name="TextBox 3"/>
          <p:cNvSpPr txBox="1"/>
          <p:nvPr/>
        </p:nvSpPr>
        <p:spPr>
          <a:xfrm>
            <a:off x="548640" y="685800"/>
            <a:ext cx="10058400" cy="29464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algn="l">
              <a:defRPr sz="1400" b="0">
                <a:solidFill>
                  <a:srgbClr val="D4E8DC"/>
                </a:solidFill>
                <a:latin typeface="微软雅黑" panose="020B0503020204020204" charset="-122"/>
              </a:defRPr>
            </a:pPr>
            <a:r>
              <a:t>Data Processing Pipeline — 从原始数据到模型训练</a:t>
            </a:r>
          </a:p>
        </p:txBody>
      </p:sp>
      <p:sp>
        <p:nvSpPr>
          <p:cNvPr id="1048703" name="Rectangle 4"/>
          <p:cNvSpPr/>
          <p:nvPr/>
        </p:nvSpPr>
        <p:spPr>
          <a:xfrm>
            <a:off x="0" y="1097280"/>
            <a:ext cx="12191695" cy="36576"/>
          </a:xfrm>
          <a:prstGeom prst="rect">
            <a:avLst/>
          </a:prstGeom>
          <a:solidFill>
            <a:srgbClr val="C895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</a:p>
        </p:txBody>
      </p:sp>
      <p:sp>
        <p:nvSpPr>
          <p:cNvPr id="1048704" name="Rectangle 5"/>
          <p:cNvSpPr/>
          <p:nvPr/>
        </p:nvSpPr>
        <p:spPr>
          <a:xfrm>
            <a:off x="365760" y="1645920"/>
            <a:ext cx="1737360" cy="2560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</a:p>
        </p:txBody>
      </p:sp>
      <p:sp>
        <p:nvSpPr>
          <p:cNvPr id="1048705" name="TextBox 6"/>
          <p:cNvSpPr txBox="1"/>
          <p:nvPr/>
        </p:nvSpPr>
        <p:spPr>
          <a:xfrm>
            <a:off x="365760" y="1737360"/>
            <a:ext cx="1737360" cy="29464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algn="ctr">
              <a:defRPr sz="1400" b="1">
                <a:solidFill>
                  <a:srgbClr val="2D5A3D"/>
                </a:solidFill>
                <a:latin typeface="微软雅黑" panose="020B0503020204020204" charset="-122"/>
              </a:defRPr>
            </a:pPr>
            <a:r>
              <a:t>① 数据收集</a:t>
            </a:r>
          </a:p>
        </p:txBody>
      </p:sp>
      <p:sp>
        <p:nvSpPr>
          <p:cNvPr id="1048706" name="TextBox 7"/>
          <p:cNvSpPr txBox="1"/>
          <p:nvPr/>
        </p:nvSpPr>
        <p:spPr>
          <a:xfrm>
            <a:off x="502920" y="2286000"/>
            <a:ext cx="1463040" cy="80264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algn="ctr">
              <a:defRPr sz="1200" b="0">
                <a:solidFill>
                  <a:srgbClr val="6B6B6B"/>
                </a:solidFill>
                <a:latin typeface="微软雅黑" panose="020B0503020204020204" charset="-122"/>
              </a:defRPr>
            </a:pPr>
            <a:r>
              <a:t>UCI 蘑菇数据集</a:t>
            </a:r>
            <a:br/>
            <a:r>
              <a:t>agaricus-lepiota.data</a:t>
            </a:r>
            <a:br/>
            <a:r>
              <a:t>8124 条原始记录</a:t>
            </a:r>
          </a:p>
        </p:txBody>
      </p:sp>
      <p:sp>
        <p:nvSpPr>
          <p:cNvPr id="1048707" name="TextBox 8"/>
          <p:cNvSpPr txBox="1"/>
          <p:nvPr/>
        </p:nvSpPr>
        <p:spPr>
          <a:xfrm>
            <a:off x="2194560" y="2560320"/>
            <a:ext cx="274320" cy="80264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algn="ctr">
              <a:defRPr sz="2400" b="1">
                <a:solidFill>
                  <a:srgbClr val="C8956C"/>
                </a:solidFill>
                <a:latin typeface="微软雅黑" panose="020B0503020204020204" charset="-122"/>
              </a:defRPr>
            </a:pPr>
            <a:r>
              <a:t>→</a:t>
            </a:r>
          </a:p>
        </p:txBody>
      </p:sp>
      <p:sp>
        <p:nvSpPr>
          <p:cNvPr id="1048708" name="Rectangle 9"/>
          <p:cNvSpPr/>
          <p:nvPr/>
        </p:nvSpPr>
        <p:spPr>
          <a:xfrm>
            <a:off x="2286000" y="1645920"/>
            <a:ext cx="1737360" cy="2560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</a:p>
        </p:txBody>
      </p:sp>
      <p:sp>
        <p:nvSpPr>
          <p:cNvPr id="1048709" name="TextBox 10"/>
          <p:cNvSpPr txBox="1"/>
          <p:nvPr/>
        </p:nvSpPr>
        <p:spPr>
          <a:xfrm>
            <a:off x="2286000" y="1737360"/>
            <a:ext cx="1737360" cy="29464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algn="ctr">
              <a:defRPr sz="1400" b="1">
                <a:solidFill>
                  <a:srgbClr val="2D5A3D"/>
                </a:solidFill>
                <a:latin typeface="微软雅黑" panose="020B0503020204020204" charset="-122"/>
              </a:defRPr>
            </a:pPr>
            <a:r>
              <a:t>② 数据清洗</a:t>
            </a:r>
          </a:p>
        </p:txBody>
      </p:sp>
      <p:sp>
        <p:nvSpPr>
          <p:cNvPr id="1048710" name="TextBox 11"/>
          <p:cNvSpPr txBox="1"/>
          <p:nvPr/>
        </p:nvSpPr>
        <p:spPr>
          <a:xfrm>
            <a:off x="2423160" y="2286000"/>
            <a:ext cx="1463040" cy="80264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algn="ctr">
              <a:defRPr sz="1200" b="0">
                <a:solidFill>
                  <a:srgbClr val="6B6B6B"/>
                </a:solidFill>
                <a:latin typeface="微软雅黑" panose="020B0503020204020204" charset="-122"/>
              </a:defRPr>
            </a:pPr>
            <a:r>
              <a:t>检查缺失值</a:t>
            </a:r>
            <a:br/>
            <a:r>
              <a:t>统一编码格式</a:t>
            </a:r>
            <a:br/>
            <a:r>
              <a:t>将字母编码转为中文标签</a:t>
            </a:r>
          </a:p>
        </p:txBody>
      </p:sp>
      <p:sp>
        <p:nvSpPr>
          <p:cNvPr id="1048711" name="TextBox 12"/>
          <p:cNvSpPr txBox="1"/>
          <p:nvPr/>
        </p:nvSpPr>
        <p:spPr>
          <a:xfrm>
            <a:off x="4114800" y="2560320"/>
            <a:ext cx="274320" cy="80264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algn="ctr">
              <a:defRPr sz="2400" b="1">
                <a:solidFill>
                  <a:srgbClr val="C8956C"/>
                </a:solidFill>
                <a:latin typeface="微软雅黑" panose="020B0503020204020204" charset="-122"/>
              </a:defRPr>
            </a:pPr>
            <a:r>
              <a:t>→</a:t>
            </a:r>
          </a:p>
        </p:txBody>
      </p:sp>
      <p:sp>
        <p:nvSpPr>
          <p:cNvPr id="1048712" name="Rectangle 13"/>
          <p:cNvSpPr/>
          <p:nvPr/>
        </p:nvSpPr>
        <p:spPr>
          <a:xfrm>
            <a:off x="4206240" y="1645920"/>
            <a:ext cx="1737360" cy="2560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</a:p>
        </p:txBody>
      </p:sp>
      <p:sp>
        <p:nvSpPr>
          <p:cNvPr id="1048713" name="TextBox 14"/>
          <p:cNvSpPr txBox="1"/>
          <p:nvPr/>
        </p:nvSpPr>
        <p:spPr>
          <a:xfrm>
            <a:off x="4206240" y="1737360"/>
            <a:ext cx="1737360" cy="29464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algn="ctr">
              <a:defRPr sz="1400" b="1">
                <a:solidFill>
                  <a:srgbClr val="2D5A3D"/>
                </a:solidFill>
                <a:latin typeface="微软雅黑" panose="020B0503020204020204" charset="-122"/>
              </a:defRPr>
            </a:pPr>
            <a:r>
              <a:t>③ 特征编码</a:t>
            </a:r>
          </a:p>
        </p:txBody>
      </p:sp>
      <p:sp>
        <p:nvSpPr>
          <p:cNvPr id="1048714" name="TextBox 15"/>
          <p:cNvSpPr txBox="1"/>
          <p:nvPr/>
        </p:nvSpPr>
        <p:spPr>
          <a:xfrm>
            <a:off x="4343400" y="2286000"/>
            <a:ext cx="1463040" cy="62484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algn="ctr">
              <a:defRPr sz="1200" b="0">
                <a:solidFill>
                  <a:srgbClr val="6B6B6B"/>
                </a:solidFill>
                <a:latin typeface="微软雅黑" panose="020B0503020204020204" charset="-122"/>
              </a:defRPr>
            </a:pPr>
            <a:r>
              <a:t>LabelEncoder</a:t>
            </a:r>
            <a:br/>
            <a:r>
              <a:t>将 22 个分类特征</a:t>
            </a:r>
            <a:br/>
            <a:r>
              <a:t>转为数值编码</a:t>
            </a:r>
          </a:p>
        </p:txBody>
      </p:sp>
      <p:sp>
        <p:nvSpPr>
          <p:cNvPr id="1048715" name="TextBox 16"/>
          <p:cNvSpPr txBox="1"/>
          <p:nvPr/>
        </p:nvSpPr>
        <p:spPr>
          <a:xfrm>
            <a:off x="6035040" y="2560320"/>
            <a:ext cx="274320" cy="80264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algn="ctr">
              <a:defRPr sz="2400" b="1">
                <a:solidFill>
                  <a:srgbClr val="C8956C"/>
                </a:solidFill>
                <a:latin typeface="微软雅黑" panose="020B0503020204020204" charset="-122"/>
              </a:defRPr>
            </a:pPr>
            <a:r>
              <a:t>→</a:t>
            </a:r>
          </a:p>
        </p:txBody>
      </p:sp>
      <p:sp>
        <p:nvSpPr>
          <p:cNvPr id="1048716" name="Rectangle 17"/>
          <p:cNvSpPr/>
          <p:nvPr/>
        </p:nvSpPr>
        <p:spPr>
          <a:xfrm>
            <a:off x="6126480" y="1645920"/>
            <a:ext cx="1737360" cy="2560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</a:p>
        </p:txBody>
      </p:sp>
      <p:sp>
        <p:nvSpPr>
          <p:cNvPr id="1048717" name="TextBox 18"/>
          <p:cNvSpPr txBox="1"/>
          <p:nvPr/>
        </p:nvSpPr>
        <p:spPr>
          <a:xfrm>
            <a:off x="6126480" y="1737360"/>
            <a:ext cx="1737360" cy="29464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algn="ctr">
              <a:defRPr sz="1400" b="1">
                <a:solidFill>
                  <a:srgbClr val="2D5A3D"/>
                </a:solidFill>
                <a:latin typeface="微软雅黑" panose="020B0503020204020204" charset="-122"/>
              </a:defRPr>
            </a:pPr>
            <a:r>
              <a:t>④ 数据划分</a:t>
            </a:r>
          </a:p>
        </p:txBody>
      </p:sp>
      <p:sp>
        <p:nvSpPr>
          <p:cNvPr id="1048718" name="TextBox 19"/>
          <p:cNvSpPr txBox="1"/>
          <p:nvPr/>
        </p:nvSpPr>
        <p:spPr>
          <a:xfrm>
            <a:off x="6263640" y="2286000"/>
            <a:ext cx="1463040" cy="62484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algn="ctr">
              <a:defRPr sz="1200" b="0">
                <a:solidFill>
                  <a:srgbClr val="6B6B6B"/>
                </a:solidFill>
                <a:latin typeface="微软雅黑" panose="020B0503020204020204" charset="-122"/>
              </a:defRPr>
            </a:pPr>
            <a:r>
              <a:t>80% 训练集</a:t>
            </a:r>
            <a:br/>
            <a:r>
              <a:t>20% 测试集</a:t>
            </a:r>
            <a:br/>
            <a:r>
              <a:t>random_state=42</a:t>
            </a:r>
          </a:p>
        </p:txBody>
      </p:sp>
      <p:sp>
        <p:nvSpPr>
          <p:cNvPr id="1048719" name="TextBox 20"/>
          <p:cNvSpPr txBox="1"/>
          <p:nvPr/>
        </p:nvSpPr>
        <p:spPr>
          <a:xfrm>
            <a:off x="7955280" y="2560320"/>
            <a:ext cx="274320" cy="80264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algn="ctr">
              <a:defRPr sz="2400" b="1">
                <a:solidFill>
                  <a:srgbClr val="C8956C"/>
                </a:solidFill>
                <a:latin typeface="微软雅黑" panose="020B0503020204020204" charset="-122"/>
              </a:defRPr>
            </a:pPr>
            <a:r>
              <a:t>→</a:t>
            </a:r>
          </a:p>
        </p:txBody>
      </p:sp>
      <p:sp>
        <p:nvSpPr>
          <p:cNvPr id="1048720" name="Rectangle 21"/>
          <p:cNvSpPr/>
          <p:nvPr/>
        </p:nvSpPr>
        <p:spPr>
          <a:xfrm>
            <a:off x="8046720" y="1645920"/>
            <a:ext cx="1737360" cy="2560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</a:p>
        </p:txBody>
      </p:sp>
      <p:sp>
        <p:nvSpPr>
          <p:cNvPr id="1048721" name="TextBox 22"/>
          <p:cNvSpPr txBox="1"/>
          <p:nvPr/>
        </p:nvSpPr>
        <p:spPr>
          <a:xfrm>
            <a:off x="8046720" y="1737360"/>
            <a:ext cx="1737360" cy="29464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algn="ctr">
              <a:defRPr sz="1400" b="1">
                <a:solidFill>
                  <a:srgbClr val="2D5A3D"/>
                </a:solidFill>
                <a:latin typeface="微软雅黑" panose="020B0503020204020204" charset="-122"/>
              </a:defRPr>
            </a:pPr>
            <a:r>
              <a:t>⑤ 模型训练</a:t>
            </a:r>
          </a:p>
        </p:txBody>
      </p:sp>
      <p:sp>
        <p:nvSpPr>
          <p:cNvPr id="1048722" name="TextBox 23"/>
          <p:cNvSpPr txBox="1"/>
          <p:nvPr/>
        </p:nvSpPr>
        <p:spPr>
          <a:xfrm>
            <a:off x="8183880" y="2286000"/>
            <a:ext cx="1463040" cy="62484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algn="ctr">
              <a:defRPr sz="1200" b="0">
                <a:solidFill>
                  <a:srgbClr val="6B6B6B"/>
                </a:solidFill>
                <a:latin typeface="微软雅黑" panose="020B0503020204020204" charset="-122"/>
              </a:defRPr>
            </a:pPr>
            <a:r>
              <a:t>6 种 ML 模型</a:t>
            </a:r>
            <a:br/>
            <a:r>
              <a:t>交叉验证</a:t>
            </a:r>
            <a:br/>
            <a:r>
              <a:t>网格搜索调参</a:t>
            </a:r>
          </a:p>
        </p:txBody>
      </p:sp>
      <p:sp>
        <p:nvSpPr>
          <p:cNvPr id="1048723" name="TextBox 24"/>
          <p:cNvSpPr txBox="1"/>
          <p:nvPr/>
        </p:nvSpPr>
        <p:spPr>
          <a:xfrm>
            <a:off x="9875520" y="2560320"/>
            <a:ext cx="274320" cy="80264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algn="ctr">
              <a:defRPr sz="2400" b="1">
                <a:solidFill>
                  <a:srgbClr val="C8956C"/>
                </a:solidFill>
                <a:latin typeface="微软雅黑" panose="020B0503020204020204" charset="-122"/>
              </a:defRPr>
            </a:pPr>
            <a:r>
              <a:t>→</a:t>
            </a:r>
          </a:p>
        </p:txBody>
      </p:sp>
      <p:sp>
        <p:nvSpPr>
          <p:cNvPr id="1048724" name="Rectangle 25"/>
          <p:cNvSpPr/>
          <p:nvPr/>
        </p:nvSpPr>
        <p:spPr>
          <a:xfrm>
            <a:off x="9966960" y="1645920"/>
            <a:ext cx="1737360" cy="2560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</a:p>
        </p:txBody>
      </p:sp>
      <p:sp>
        <p:nvSpPr>
          <p:cNvPr id="1048725" name="TextBox 26"/>
          <p:cNvSpPr txBox="1"/>
          <p:nvPr/>
        </p:nvSpPr>
        <p:spPr>
          <a:xfrm>
            <a:off x="9966960" y="1737360"/>
            <a:ext cx="1737360" cy="29464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algn="ctr">
              <a:defRPr sz="1400" b="1">
                <a:solidFill>
                  <a:srgbClr val="2D5A3D"/>
                </a:solidFill>
                <a:latin typeface="微软雅黑" panose="020B0503020204020204" charset="-122"/>
              </a:defRPr>
            </a:pPr>
            <a:r>
              <a:t>⑥ 结果评估</a:t>
            </a:r>
          </a:p>
        </p:txBody>
      </p:sp>
      <p:sp>
        <p:nvSpPr>
          <p:cNvPr id="1048726" name="TextBox 27"/>
          <p:cNvSpPr txBox="1"/>
          <p:nvPr/>
        </p:nvSpPr>
        <p:spPr>
          <a:xfrm>
            <a:off x="10104120" y="2286000"/>
            <a:ext cx="1463040" cy="62484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algn="ctr">
              <a:defRPr sz="1200" b="0">
                <a:solidFill>
                  <a:srgbClr val="6B6B6B"/>
                </a:solidFill>
                <a:latin typeface="微软雅黑" panose="020B0503020204020204" charset="-122"/>
              </a:defRPr>
            </a:pPr>
            <a:r>
              <a:t>准确率 / F1</a:t>
            </a:r>
            <a:br/>
            <a:r>
              <a:t>混淆矩阵</a:t>
            </a:r>
            <a:br/>
            <a:r>
              <a:t>ROC 曲线</a:t>
            </a:r>
          </a:p>
        </p:txBody>
      </p:sp>
      <p:sp>
        <p:nvSpPr>
          <p:cNvPr id="1048727" name="TextBox 28"/>
          <p:cNvSpPr txBox="1"/>
          <p:nvPr/>
        </p:nvSpPr>
        <p:spPr>
          <a:xfrm>
            <a:off x="457200" y="45720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algn="l">
              <a:defRPr sz="1800" b="1">
                <a:solidFill>
                  <a:srgbClr val="2D5A3D"/>
                </a:solidFill>
                <a:latin typeface="微软雅黑" panose="020B0503020204020204" charset="-122"/>
              </a:defRPr>
            </a:pPr>
            <a:r>
              <a:t>关键代码片段</a:t>
            </a:r>
          </a:p>
        </p:txBody>
      </p:sp>
      <p:sp>
        <p:nvSpPr>
          <p:cNvPr id="1048728" name="Rectangle 29"/>
          <p:cNvSpPr/>
          <p:nvPr/>
        </p:nvSpPr>
        <p:spPr>
          <a:xfrm>
            <a:off x="457200" y="5029200"/>
            <a:ext cx="11247120" cy="1371600"/>
          </a:xfrm>
          <a:prstGeom prst="rect">
            <a:avLst/>
          </a:prstGeom>
          <a:solidFill>
            <a:srgbClr val="2B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</a:p>
        </p:txBody>
      </p:sp>
      <p:sp>
        <p:nvSpPr>
          <p:cNvPr id="1048729" name="TextBox 30"/>
          <p:cNvSpPr txBox="1"/>
          <p:nvPr/>
        </p:nvSpPr>
        <p:spPr>
          <a:xfrm>
            <a:off x="731520" y="5120640"/>
            <a:ext cx="10789920" cy="133604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algn="l">
              <a:defRPr sz="1200" b="0">
                <a:solidFill>
                  <a:srgbClr val="A9B7C6"/>
                </a:solidFill>
                <a:latin typeface="Consolas" panose="020B0609020204030204"/>
              </a:defRPr>
            </a:pPr>
            <a:r>
              <a:t># 数据编码: LabelEncoder 将分类特征转为数值</a:t>
            </a:r>
            <a:br/>
            <a:r>
              <a:t>le = LabelEncoder()</a:t>
            </a:r>
            <a:br/>
            <a:r>
              <a:t>for col in df.columns:</a:t>
            </a:r>
            <a:br/>
            <a:r>
              <a:t>    df[col] = le.fit_transform(df[col])</a:t>
            </a:r>
            <a:br/>
            <a:br/>
            <a:r>
              <a:t># 数据划分: 80% 训练, 20% 测试</a:t>
            </a:r>
            <a:br/>
            <a:r>
              <a:t>X_train, X_test, y_train, y_test = train_test_split(X, y, test_size=0.2, random_state=42)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0"/>
        </a:solidFill>
        <a:effectLst/>
      </p:bgPr>
    </p:bg>
    <p:spTree>
      <p:nvGrpSpPr>
        <p:cNvPr id="40" name=""/>
        <p:cNvGrpSpPr/>
        <p:nvPr/>
      </p:nvGrpSpPr>
      <p:grpSpPr/>
      <p:sp>
        <p:nvSpPr>
          <p:cNvPr id="1048730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D5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</a:p>
        </p:txBody>
      </p:sp>
      <p:sp>
        <p:nvSpPr>
          <p:cNvPr id="1048731" name="TextBox 2"/>
          <p:cNvSpPr txBox="1"/>
          <p:nvPr/>
        </p:nvSpPr>
        <p:spPr>
          <a:xfrm>
            <a:off x="548640" y="137160"/>
            <a:ext cx="10058400" cy="57404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algn="l">
              <a:defRPr sz="32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分析方法 — 6 种机器学习模型</a:t>
            </a:r>
          </a:p>
        </p:txBody>
      </p:sp>
      <p:sp>
        <p:nvSpPr>
          <p:cNvPr id="1048732" name="TextBox 3"/>
          <p:cNvSpPr txBox="1"/>
          <p:nvPr/>
        </p:nvSpPr>
        <p:spPr>
          <a:xfrm>
            <a:off x="548640" y="685800"/>
            <a:ext cx="10058400" cy="29464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algn="l">
              <a:defRPr sz="1400" b="0">
                <a:solidFill>
                  <a:srgbClr val="D4E8DC"/>
                </a:solidFill>
                <a:latin typeface="微软雅黑" panose="020B0503020204020204" charset="-122"/>
              </a:defRPr>
            </a:pPr>
            <a:r>
              <a:t>Machine Learning Models — 对比不同算法的分类效果</a:t>
            </a:r>
          </a:p>
        </p:txBody>
      </p:sp>
      <p:sp>
        <p:nvSpPr>
          <p:cNvPr id="1048733" name="Rectangle 4"/>
          <p:cNvSpPr/>
          <p:nvPr/>
        </p:nvSpPr>
        <p:spPr>
          <a:xfrm>
            <a:off x="0" y="1097280"/>
            <a:ext cx="12191695" cy="36576"/>
          </a:xfrm>
          <a:prstGeom prst="rect">
            <a:avLst/>
          </a:prstGeom>
          <a:solidFill>
            <a:srgbClr val="C895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</a:p>
        </p:txBody>
      </p:sp>
      <p:sp>
        <p:nvSpPr>
          <p:cNvPr id="1048734" name="Rectangle 5"/>
          <p:cNvSpPr/>
          <p:nvPr/>
        </p:nvSpPr>
        <p:spPr>
          <a:xfrm>
            <a:off x="457200" y="1371600"/>
            <a:ext cx="3566160" cy="2377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</a:p>
        </p:txBody>
      </p:sp>
      <p:sp>
        <p:nvSpPr>
          <p:cNvPr id="1048735" name="Rectangle 6"/>
          <p:cNvSpPr/>
          <p:nvPr/>
        </p:nvSpPr>
        <p:spPr>
          <a:xfrm>
            <a:off x="457200" y="1371600"/>
            <a:ext cx="3566160" cy="640080"/>
          </a:xfrm>
          <a:prstGeom prst="rect">
            <a:avLst/>
          </a:prstGeom>
          <a:solidFill>
            <a:srgbClr val="2D5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</a:p>
        </p:txBody>
      </p:sp>
      <p:sp>
        <p:nvSpPr>
          <p:cNvPr id="1048736" name="TextBox 7"/>
          <p:cNvSpPr txBox="1"/>
          <p:nvPr/>
        </p:nvSpPr>
        <p:spPr>
          <a:xfrm>
            <a:off x="594360" y="1417320"/>
            <a:ext cx="3291840" cy="47244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algn="ctr">
              <a:defRPr sz="13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逻辑回归</a:t>
            </a:r>
            <a:br/>
            <a:r>
              <a:t>Logistic Regression</a:t>
            </a:r>
          </a:p>
        </p:txBody>
      </p:sp>
      <p:sp>
        <p:nvSpPr>
          <p:cNvPr id="1048737" name="TextBox 8"/>
          <p:cNvSpPr txBox="1"/>
          <p:nvPr/>
        </p:nvSpPr>
        <p:spPr>
          <a:xfrm>
            <a:off x="594360" y="2103120"/>
            <a:ext cx="3291840" cy="916941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algn="l">
              <a:defRPr sz="1100" b="0">
                <a:solidFill>
                  <a:srgbClr val="6B6B6B"/>
                </a:solidFill>
                <a:latin typeface="微软雅黑" panose="020B0503020204020204" charset="-122"/>
              </a:defRPr>
            </a:pPr>
            <a:r>
              <a:t>线性分类器，用 Sigmoid 函数</a:t>
            </a:r>
            <a:br/>
            <a:r>
              <a:t>将输出映射到 0-1 概率</a:t>
            </a:r>
            <a:br/>
            <a:br/>
            <a:r>
              <a:t>优点：简单、可解释性强</a:t>
            </a:r>
            <a:br/>
            <a:r>
              <a:t>适用：线性可分问题</a:t>
            </a:r>
          </a:p>
        </p:txBody>
      </p:sp>
      <p:sp>
        <p:nvSpPr>
          <p:cNvPr id="1048738" name="Rectangle 9"/>
          <p:cNvSpPr/>
          <p:nvPr/>
        </p:nvSpPr>
        <p:spPr>
          <a:xfrm>
            <a:off x="4297680" y="1371600"/>
            <a:ext cx="3566160" cy="2377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</a:p>
        </p:txBody>
      </p:sp>
      <p:sp>
        <p:nvSpPr>
          <p:cNvPr id="1048739" name="Rectangle 10"/>
          <p:cNvSpPr/>
          <p:nvPr/>
        </p:nvSpPr>
        <p:spPr>
          <a:xfrm>
            <a:off x="4297680" y="1371600"/>
            <a:ext cx="3566160" cy="640080"/>
          </a:xfrm>
          <a:prstGeom prst="rect">
            <a:avLst/>
          </a:prstGeom>
          <a:solidFill>
            <a:srgbClr val="2D5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</a:p>
        </p:txBody>
      </p:sp>
      <p:sp>
        <p:nvSpPr>
          <p:cNvPr id="1048740" name="TextBox 11"/>
          <p:cNvSpPr txBox="1"/>
          <p:nvPr/>
        </p:nvSpPr>
        <p:spPr>
          <a:xfrm>
            <a:off x="4434840" y="1417320"/>
            <a:ext cx="3291840" cy="47244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algn="ctr">
              <a:defRPr sz="13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随机森林</a:t>
            </a:r>
            <a:br/>
            <a:r>
              <a:t>Random Forest</a:t>
            </a:r>
          </a:p>
        </p:txBody>
      </p:sp>
      <p:sp>
        <p:nvSpPr>
          <p:cNvPr id="1048741" name="TextBox 12"/>
          <p:cNvSpPr txBox="1"/>
          <p:nvPr/>
        </p:nvSpPr>
        <p:spPr>
          <a:xfrm>
            <a:off x="4434840" y="2103120"/>
            <a:ext cx="3291840" cy="916941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algn="l">
              <a:defRPr sz="1100" b="0">
                <a:solidFill>
                  <a:srgbClr val="6B6B6B"/>
                </a:solidFill>
                <a:latin typeface="微软雅黑" panose="020B0503020204020204" charset="-122"/>
              </a:defRPr>
            </a:pPr>
            <a:r>
              <a:t>集成学习：构建多棵决策树</a:t>
            </a:r>
            <a:br/>
            <a:r>
              <a:t>投票决定最终分类</a:t>
            </a:r>
            <a:br/>
            <a:br/>
            <a:r>
              <a:t>优点：抗过拟合、可给出</a:t>
            </a:r>
            <a:br/>
            <a:r>
              <a:t>特征重要性排名</a:t>
            </a:r>
          </a:p>
        </p:txBody>
      </p:sp>
      <p:sp>
        <p:nvSpPr>
          <p:cNvPr id="1048742" name="Rectangle 13"/>
          <p:cNvSpPr/>
          <p:nvPr/>
        </p:nvSpPr>
        <p:spPr>
          <a:xfrm>
            <a:off x="8138160" y="1371600"/>
            <a:ext cx="3566160" cy="2377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</a:p>
        </p:txBody>
      </p:sp>
      <p:sp>
        <p:nvSpPr>
          <p:cNvPr id="1048743" name="Rectangle 14"/>
          <p:cNvSpPr/>
          <p:nvPr/>
        </p:nvSpPr>
        <p:spPr>
          <a:xfrm>
            <a:off x="8138160" y="1371600"/>
            <a:ext cx="3566160" cy="640080"/>
          </a:xfrm>
          <a:prstGeom prst="rect">
            <a:avLst/>
          </a:prstGeom>
          <a:solidFill>
            <a:srgbClr val="2D5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</a:p>
        </p:txBody>
      </p:sp>
      <p:sp>
        <p:nvSpPr>
          <p:cNvPr id="1048744" name="TextBox 15"/>
          <p:cNvSpPr txBox="1"/>
          <p:nvPr/>
        </p:nvSpPr>
        <p:spPr>
          <a:xfrm>
            <a:off x="8275320" y="1417320"/>
            <a:ext cx="3291840" cy="47244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algn="ctr">
              <a:defRPr sz="13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梯度提升</a:t>
            </a:r>
            <a:br/>
            <a:r>
              <a:t>Gradient Boosting</a:t>
            </a:r>
          </a:p>
        </p:txBody>
      </p:sp>
      <p:sp>
        <p:nvSpPr>
          <p:cNvPr id="1048745" name="TextBox 16"/>
          <p:cNvSpPr txBox="1"/>
          <p:nvPr/>
        </p:nvSpPr>
        <p:spPr>
          <a:xfrm>
            <a:off x="8275320" y="2103120"/>
            <a:ext cx="3291840" cy="916941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algn="l">
              <a:defRPr sz="1100" b="0">
                <a:solidFill>
                  <a:srgbClr val="6B6B6B"/>
                </a:solidFill>
                <a:latin typeface="微软雅黑" panose="020B0503020204020204" charset="-122"/>
              </a:defRPr>
            </a:pPr>
            <a:r>
              <a:t>集成学习：串行构建弱学习器</a:t>
            </a:r>
            <a:br/>
            <a:r>
              <a:t>每棵树修正前一棵的错误</a:t>
            </a:r>
            <a:br/>
            <a:br/>
            <a:r>
              <a:t>优点：精度高、泛化好</a:t>
            </a:r>
            <a:br/>
            <a:r>
              <a:t>适合：复杂非线性问题</a:t>
            </a:r>
          </a:p>
        </p:txBody>
      </p:sp>
      <p:sp>
        <p:nvSpPr>
          <p:cNvPr id="1048746" name="Rectangle 17"/>
          <p:cNvSpPr/>
          <p:nvPr/>
        </p:nvSpPr>
        <p:spPr>
          <a:xfrm>
            <a:off x="457200" y="4023360"/>
            <a:ext cx="3566160" cy="2377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</a:p>
        </p:txBody>
      </p:sp>
      <p:sp>
        <p:nvSpPr>
          <p:cNvPr id="1048747" name="Rectangle 18"/>
          <p:cNvSpPr/>
          <p:nvPr/>
        </p:nvSpPr>
        <p:spPr>
          <a:xfrm>
            <a:off x="457200" y="4023360"/>
            <a:ext cx="3566160" cy="640080"/>
          </a:xfrm>
          <a:prstGeom prst="rect">
            <a:avLst/>
          </a:prstGeom>
          <a:solidFill>
            <a:srgbClr val="4A8C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</a:p>
        </p:txBody>
      </p:sp>
      <p:sp>
        <p:nvSpPr>
          <p:cNvPr id="1048748" name="TextBox 19"/>
          <p:cNvSpPr txBox="1"/>
          <p:nvPr/>
        </p:nvSpPr>
        <p:spPr>
          <a:xfrm>
            <a:off x="594360" y="4069080"/>
            <a:ext cx="3291840" cy="47244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algn="ctr">
              <a:defRPr sz="13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支持向量机</a:t>
            </a:r>
            <a:br/>
            <a:r>
              <a:t>SVM</a:t>
            </a:r>
          </a:p>
        </p:txBody>
      </p:sp>
      <p:sp>
        <p:nvSpPr>
          <p:cNvPr id="1048749" name="TextBox 20"/>
          <p:cNvSpPr txBox="1"/>
          <p:nvPr/>
        </p:nvSpPr>
        <p:spPr>
          <a:xfrm>
            <a:off x="594360" y="4754880"/>
            <a:ext cx="3291840" cy="916941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algn="l">
              <a:defRPr sz="1100" b="0">
                <a:solidFill>
                  <a:srgbClr val="6B6B6B"/>
                </a:solidFill>
                <a:latin typeface="微软雅黑" panose="020B0503020204020204" charset="-122"/>
              </a:defRPr>
            </a:pPr>
            <a:r>
              <a:t>寻找最大间隔超平面</a:t>
            </a:r>
            <a:br/>
            <a:r>
              <a:t>将两类样本分开</a:t>
            </a:r>
            <a:br/>
            <a:br/>
            <a:r>
              <a:t>优点：高维空间表现好</a:t>
            </a:r>
            <a:br/>
            <a:r>
              <a:t>适合：中小规模数据集</a:t>
            </a:r>
          </a:p>
        </p:txBody>
      </p:sp>
      <p:sp>
        <p:nvSpPr>
          <p:cNvPr id="1048750" name="Rectangle 21"/>
          <p:cNvSpPr/>
          <p:nvPr/>
        </p:nvSpPr>
        <p:spPr>
          <a:xfrm>
            <a:off x="4297680" y="4023360"/>
            <a:ext cx="3566160" cy="2377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</a:p>
        </p:txBody>
      </p:sp>
      <p:sp>
        <p:nvSpPr>
          <p:cNvPr id="1048751" name="Rectangle 22"/>
          <p:cNvSpPr/>
          <p:nvPr/>
        </p:nvSpPr>
        <p:spPr>
          <a:xfrm>
            <a:off x="4297680" y="4023360"/>
            <a:ext cx="3566160" cy="640080"/>
          </a:xfrm>
          <a:prstGeom prst="rect">
            <a:avLst/>
          </a:prstGeom>
          <a:solidFill>
            <a:srgbClr val="4A8C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</a:p>
        </p:txBody>
      </p:sp>
      <p:sp>
        <p:nvSpPr>
          <p:cNvPr id="1048752" name="TextBox 23"/>
          <p:cNvSpPr txBox="1"/>
          <p:nvPr/>
        </p:nvSpPr>
        <p:spPr>
          <a:xfrm>
            <a:off x="4434840" y="4069080"/>
            <a:ext cx="3291840" cy="47244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algn="ctr">
              <a:defRPr sz="13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K近邻</a:t>
            </a:r>
            <a:br/>
            <a:r>
              <a:t>KNN</a:t>
            </a:r>
          </a:p>
        </p:txBody>
      </p:sp>
      <p:sp>
        <p:nvSpPr>
          <p:cNvPr id="1048753" name="TextBox 24"/>
          <p:cNvSpPr txBox="1"/>
          <p:nvPr/>
        </p:nvSpPr>
        <p:spPr>
          <a:xfrm>
            <a:off x="4434840" y="4754880"/>
            <a:ext cx="3291840" cy="916941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algn="l">
              <a:defRPr sz="1100" b="0">
                <a:solidFill>
                  <a:srgbClr val="6B6B6B"/>
                </a:solidFill>
                <a:latin typeface="微软雅黑" panose="020B0503020204020204" charset="-122"/>
              </a:defRPr>
            </a:pPr>
            <a:r>
              <a:t>根据 K 个最近邻居的</a:t>
            </a:r>
            <a:br/>
            <a:r>
              <a:t>类别进行投票分类</a:t>
            </a:r>
            <a:br/>
            <a:br/>
            <a:r>
              <a:t>优点：无需训练、直观</a:t>
            </a:r>
            <a:br/>
            <a:r>
              <a:t>注意：计算量大、需归一化</a:t>
            </a:r>
          </a:p>
        </p:txBody>
      </p:sp>
      <p:sp>
        <p:nvSpPr>
          <p:cNvPr id="1048754" name="Rectangle 25"/>
          <p:cNvSpPr/>
          <p:nvPr/>
        </p:nvSpPr>
        <p:spPr>
          <a:xfrm>
            <a:off x="8138160" y="4023360"/>
            <a:ext cx="3566160" cy="2377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</a:p>
        </p:txBody>
      </p:sp>
      <p:sp>
        <p:nvSpPr>
          <p:cNvPr id="1048755" name="Rectangle 26"/>
          <p:cNvSpPr/>
          <p:nvPr/>
        </p:nvSpPr>
        <p:spPr>
          <a:xfrm>
            <a:off x="8138160" y="4023360"/>
            <a:ext cx="3566160" cy="640080"/>
          </a:xfrm>
          <a:prstGeom prst="rect">
            <a:avLst/>
          </a:prstGeom>
          <a:solidFill>
            <a:srgbClr val="4A8C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</a:p>
        </p:txBody>
      </p:sp>
      <p:sp>
        <p:nvSpPr>
          <p:cNvPr id="1048756" name="TextBox 27"/>
          <p:cNvSpPr txBox="1"/>
          <p:nvPr/>
        </p:nvSpPr>
        <p:spPr>
          <a:xfrm>
            <a:off x="8275320" y="4069080"/>
            <a:ext cx="3291840" cy="47244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algn="ctr">
              <a:defRPr sz="13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决策树</a:t>
            </a:r>
            <a:br/>
            <a:r>
              <a:t>Decision Tree</a:t>
            </a:r>
          </a:p>
        </p:txBody>
      </p:sp>
      <p:sp>
        <p:nvSpPr>
          <p:cNvPr id="1048757" name="TextBox 28"/>
          <p:cNvSpPr txBox="1"/>
          <p:nvPr/>
        </p:nvSpPr>
        <p:spPr>
          <a:xfrm>
            <a:off x="8275320" y="4754880"/>
            <a:ext cx="3291840" cy="916941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algn="l">
              <a:defRPr sz="1100" b="0">
                <a:solidFill>
                  <a:srgbClr val="6B6B6B"/>
                </a:solidFill>
                <a:latin typeface="微软雅黑" panose="020B0503020204020204" charset="-122"/>
              </a:defRPr>
            </a:pPr>
            <a:r>
              <a:t>基于特征进行条件分裂</a:t>
            </a:r>
            <a:br/>
            <a:r>
              <a:t>构建树状决策规则</a:t>
            </a:r>
            <a:br/>
            <a:br/>
            <a:r>
              <a:t>优点：可解释性最强</a:t>
            </a:r>
            <a:br/>
            <a:r>
              <a:t>注意：容易过拟合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0"/>
        </a:solidFill>
        <a:effectLst/>
      </p:bgPr>
    </p:bg>
    <p:spTree>
      <p:nvGrpSpPr>
        <p:cNvPr id="41" name=""/>
        <p:cNvGrpSpPr/>
        <p:nvPr/>
      </p:nvGrpSpPr>
      <p:grpSpPr/>
      <p:sp>
        <p:nvSpPr>
          <p:cNvPr id="1048758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D5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</a:p>
        </p:txBody>
      </p:sp>
      <p:sp>
        <p:nvSpPr>
          <p:cNvPr id="1048759" name="TextBox 2"/>
          <p:cNvSpPr txBox="1"/>
          <p:nvPr/>
        </p:nvSpPr>
        <p:spPr>
          <a:xfrm>
            <a:off x="548640" y="137160"/>
            <a:ext cx="10058400" cy="57404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algn="l">
              <a:defRPr sz="32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特征重要性分析</a:t>
            </a:r>
          </a:p>
        </p:txBody>
      </p:sp>
      <p:sp>
        <p:nvSpPr>
          <p:cNvPr id="1048760" name="TextBox 3"/>
          <p:cNvSpPr txBox="1"/>
          <p:nvPr/>
        </p:nvSpPr>
        <p:spPr>
          <a:xfrm>
            <a:off x="548640" y="685800"/>
            <a:ext cx="10058400" cy="29464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algn="l">
              <a:defRPr sz="1400" b="0">
                <a:solidFill>
                  <a:srgbClr val="D4E8DC"/>
                </a:solidFill>
                <a:latin typeface="微软雅黑" panose="020B0503020204020204" charset="-122"/>
              </a:defRPr>
            </a:pPr>
            <a:r>
              <a:t>Feature Importance — 哪些特征最能判断蘑菇毒性？</a:t>
            </a:r>
          </a:p>
        </p:txBody>
      </p:sp>
      <p:sp>
        <p:nvSpPr>
          <p:cNvPr id="1048761" name="Rectangle 4"/>
          <p:cNvSpPr/>
          <p:nvPr/>
        </p:nvSpPr>
        <p:spPr>
          <a:xfrm>
            <a:off x="0" y="1097280"/>
            <a:ext cx="12191695" cy="36576"/>
          </a:xfrm>
          <a:prstGeom prst="rect">
            <a:avLst/>
          </a:prstGeom>
          <a:solidFill>
            <a:srgbClr val="C895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</a:p>
        </p:txBody>
      </p:sp>
      <p:sp>
        <p:nvSpPr>
          <p:cNvPr id="1048762" name="TextBox 5"/>
          <p:cNvSpPr txBox="1"/>
          <p:nvPr/>
        </p:nvSpPr>
        <p:spPr>
          <a:xfrm>
            <a:off x="548640" y="1280160"/>
            <a:ext cx="10972800" cy="29464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algn="l">
              <a:defRPr sz="1400" b="0">
                <a:solidFill>
                  <a:srgbClr val="6B6B6B"/>
                </a:solidFill>
                <a:latin typeface="微软雅黑" panose="020B0503020204020204" charset="-122"/>
              </a:defRPr>
            </a:pPr>
            <a:r>
              <a:t>使用三种方法综合评估特征重要性：随机森林 (Random Forest)、卡方检验 (Chi-Square)、互信息 (Mutual Information)</a:t>
            </a:r>
          </a:p>
        </p:txBody>
      </p:sp>
      <p:pic>
        <p:nvPicPr>
          <p:cNvPr id="2097153" name="Picture 6" descr="feature_importance_rf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828800"/>
            <a:ext cx="5760720" cy="4572000"/>
          </a:xfrm>
          <a:prstGeom prst="rect">
            <a:avLst/>
          </a:prstGeom>
        </p:spPr>
      </p:pic>
      <p:sp>
        <p:nvSpPr>
          <p:cNvPr id="1048763" name="TextBox 7"/>
          <p:cNvSpPr txBox="1"/>
          <p:nvPr/>
        </p:nvSpPr>
        <p:spPr>
          <a:xfrm>
            <a:off x="6400800" y="1828800"/>
            <a:ext cx="5029200" cy="396239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algn="l">
              <a:defRPr sz="2000" b="1">
                <a:solidFill>
                  <a:srgbClr val="2D5A3D"/>
                </a:solidFill>
                <a:latin typeface="微软雅黑" panose="020B0503020204020204" charset="-122"/>
              </a:defRPr>
            </a:pPr>
            <a:r>
              <a:t>🏆 Top 5 最重要特征</a:t>
            </a:r>
          </a:p>
        </p:txBody>
      </p:sp>
      <p:sp>
        <p:nvSpPr>
          <p:cNvPr id="1048764" name="Rectangle 8"/>
          <p:cNvSpPr/>
          <p:nvPr/>
        </p:nvSpPr>
        <p:spPr>
          <a:xfrm>
            <a:off x="6400800" y="2377440"/>
            <a:ext cx="5029200" cy="685800"/>
          </a:xfrm>
          <a:prstGeom prst="rect">
            <a:avLst/>
          </a:prstGeom>
          <a:solidFill>
            <a:srgbClr val="D4E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</a:p>
        </p:txBody>
      </p:sp>
      <p:sp>
        <p:nvSpPr>
          <p:cNvPr id="1048765" name="TextBox 9"/>
          <p:cNvSpPr txBox="1"/>
          <p:nvPr/>
        </p:nvSpPr>
        <p:spPr>
          <a:xfrm>
            <a:off x="6583680" y="239572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algn="l">
              <a:defRPr sz="1400" b="1">
                <a:solidFill>
                  <a:srgbClr val="1A2F23"/>
                </a:solidFill>
                <a:latin typeface="微软雅黑" panose="020B0503020204020204" charset="-122"/>
              </a:defRPr>
            </a:pPr>
            <a:r>
              <a:t>🥇 气味 (odor)</a:t>
            </a:r>
          </a:p>
        </p:txBody>
      </p:sp>
      <p:sp>
        <p:nvSpPr>
          <p:cNvPr id="1048766" name="TextBox 10"/>
          <p:cNvSpPr txBox="1"/>
          <p:nvPr/>
        </p:nvSpPr>
        <p:spPr>
          <a:xfrm>
            <a:off x="8686800" y="2395728"/>
            <a:ext cx="2560320" cy="269241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algn="r">
              <a:defRPr sz="1200" b="1">
                <a:solidFill>
                  <a:srgbClr val="C8956C"/>
                </a:solidFill>
                <a:latin typeface="微软雅黑" panose="020B0503020204020204" charset="-122"/>
              </a:defRPr>
            </a:pPr>
            <a:r>
              <a:t>综合得分 0.671</a:t>
            </a:r>
          </a:p>
        </p:txBody>
      </p:sp>
      <p:sp>
        <p:nvSpPr>
          <p:cNvPr id="1048767" name="TextBox 11"/>
          <p:cNvSpPr txBox="1"/>
          <p:nvPr/>
        </p:nvSpPr>
        <p:spPr>
          <a:xfrm>
            <a:off x="6583680" y="2697480"/>
            <a:ext cx="4572000" cy="25654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algn="l">
              <a:defRPr sz="1100" b="0">
                <a:solidFill>
                  <a:srgbClr val="6B6B6B"/>
                </a:solidFill>
                <a:latin typeface="微软雅黑" panose="020B0503020204020204" charset="-122"/>
              </a:defRPr>
            </a:pPr>
            <a:r>
              <a:t>恶臭→有毒，无味→可食用</a:t>
            </a:r>
          </a:p>
        </p:txBody>
      </p:sp>
      <p:sp>
        <p:nvSpPr>
          <p:cNvPr id="1048768" name="Rectangle 12"/>
          <p:cNvSpPr/>
          <p:nvPr/>
        </p:nvSpPr>
        <p:spPr>
          <a:xfrm>
            <a:off x="6400800" y="3154680"/>
            <a:ext cx="502920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</a:p>
        </p:txBody>
      </p:sp>
      <p:sp>
        <p:nvSpPr>
          <p:cNvPr id="1048769" name="TextBox 13"/>
          <p:cNvSpPr txBox="1"/>
          <p:nvPr/>
        </p:nvSpPr>
        <p:spPr>
          <a:xfrm>
            <a:off x="6583680" y="3172968"/>
            <a:ext cx="4572000" cy="29464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algn="l">
              <a:defRPr sz="1400" b="1">
                <a:solidFill>
                  <a:srgbClr val="1A2F23"/>
                </a:solidFill>
                <a:latin typeface="微软雅黑" panose="020B0503020204020204" charset="-122"/>
              </a:defRPr>
            </a:pPr>
            <a:r>
              <a:t>🥈 菌褶颜色 (gill-color)</a:t>
            </a:r>
          </a:p>
        </p:txBody>
      </p:sp>
      <p:sp>
        <p:nvSpPr>
          <p:cNvPr id="1048770" name="TextBox 14"/>
          <p:cNvSpPr txBox="1"/>
          <p:nvPr/>
        </p:nvSpPr>
        <p:spPr>
          <a:xfrm>
            <a:off x="8686800" y="3172968"/>
            <a:ext cx="2560320" cy="26924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algn="r">
              <a:defRPr sz="1200" b="1">
                <a:solidFill>
                  <a:srgbClr val="C8956C"/>
                </a:solidFill>
                <a:latin typeface="微软雅黑" panose="020B0503020204020204" charset="-122"/>
              </a:defRPr>
            </a:pPr>
            <a:r>
              <a:t>综合得分 0.688</a:t>
            </a:r>
          </a:p>
        </p:txBody>
      </p:sp>
      <p:sp>
        <p:nvSpPr>
          <p:cNvPr id="1048771" name="TextBox 15"/>
          <p:cNvSpPr txBox="1"/>
          <p:nvPr/>
        </p:nvSpPr>
        <p:spPr>
          <a:xfrm>
            <a:off x="6583680" y="3474720"/>
            <a:ext cx="4572000" cy="256541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algn="l">
              <a:defRPr sz="1100" b="0">
                <a:solidFill>
                  <a:srgbClr val="6B6B6B"/>
                </a:solidFill>
                <a:latin typeface="微软雅黑" panose="020B0503020204020204" charset="-122"/>
              </a:defRPr>
            </a:pPr>
            <a:r>
              <a:t>颜色种类多，区分度高</a:t>
            </a:r>
          </a:p>
        </p:txBody>
      </p:sp>
      <p:sp>
        <p:nvSpPr>
          <p:cNvPr id="1048772" name="Rectangle 16"/>
          <p:cNvSpPr/>
          <p:nvPr/>
        </p:nvSpPr>
        <p:spPr>
          <a:xfrm>
            <a:off x="6400800" y="3931920"/>
            <a:ext cx="5029200" cy="685800"/>
          </a:xfrm>
          <a:prstGeom prst="rect">
            <a:avLst/>
          </a:prstGeom>
          <a:solidFill>
            <a:srgbClr val="D4E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</a:p>
        </p:txBody>
      </p:sp>
      <p:sp>
        <p:nvSpPr>
          <p:cNvPr id="1048773" name="TextBox 17"/>
          <p:cNvSpPr txBox="1"/>
          <p:nvPr/>
        </p:nvSpPr>
        <p:spPr>
          <a:xfrm>
            <a:off x="6583680" y="395020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algn="l">
              <a:defRPr sz="1400" b="1">
                <a:solidFill>
                  <a:srgbClr val="1A2F23"/>
                </a:solidFill>
                <a:latin typeface="微软雅黑" panose="020B0503020204020204" charset="-122"/>
              </a:defRPr>
            </a:pPr>
            <a:r>
              <a:t>🥉 孢子印颜色 (spore-print-color)</a:t>
            </a:r>
          </a:p>
        </p:txBody>
      </p:sp>
      <p:sp>
        <p:nvSpPr>
          <p:cNvPr id="1048774" name="TextBox 18"/>
          <p:cNvSpPr txBox="1"/>
          <p:nvPr/>
        </p:nvSpPr>
        <p:spPr>
          <a:xfrm>
            <a:off x="8686800" y="3950208"/>
            <a:ext cx="2560320" cy="269241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algn="r">
              <a:defRPr sz="1200" b="1">
                <a:solidFill>
                  <a:srgbClr val="C8956C"/>
                </a:solidFill>
                <a:latin typeface="微软雅黑" panose="020B0503020204020204" charset="-122"/>
              </a:defRPr>
            </a:pPr>
            <a:r>
              <a:t>综合得分 0.390</a:t>
            </a:r>
          </a:p>
        </p:txBody>
      </p:sp>
      <p:sp>
        <p:nvSpPr>
          <p:cNvPr id="1048775" name="TextBox 19"/>
          <p:cNvSpPr txBox="1"/>
          <p:nvPr/>
        </p:nvSpPr>
        <p:spPr>
          <a:xfrm>
            <a:off x="6583680" y="4251960"/>
            <a:ext cx="4572000" cy="25654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algn="l">
              <a:defRPr sz="1100" b="0">
                <a:solidFill>
                  <a:srgbClr val="6B6B6B"/>
                </a:solidFill>
                <a:latin typeface="微软雅黑" panose="020B0503020204020204" charset="-122"/>
              </a:defRPr>
            </a:pPr>
            <a:r>
              <a:t>深色孢子印多为有毒</a:t>
            </a:r>
          </a:p>
        </p:txBody>
      </p:sp>
      <p:sp>
        <p:nvSpPr>
          <p:cNvPr id="1048776" name="Rectangle 20"/>
          <p:cNvSpPr/>
          <p:nvPr/>
        </p:nvSpPr>
        <p:spPr>
          <a:xfrm>
            <a:off x="6400800" y="4709160"/>
            <a:ext cx="502920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</a:p>
        </p:txBody>
      </p:sp>
      <p:sp>
        <p:nvSpPr>
          <p:cNvPr id="1048777" name="TextBox 21"/>
          <p:cNvSpPr txBox="1"/>
          <p:nvPr/>
        </p:nvSpPr>
        <p:spPr>
          <a:xfrm>
            <a:off x="6583680" y="4727448"/>
            <a:ext cx="4572000" cy="29464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algn="l">
              <a:defRPr sz="1400" b="1">
                <a:solidFill>
                  <a:srgbClr val="1A2F23"/>
                </a:solidFill>
                <a:latin typeface="微软雅黑" panose="020B0503020204020204" charset="-122"/>
              </a:defRPr>
            </a:pPr>
            <a:r>
              <a:t>④ 菌褶大小 (gill-size)</a:t>
            </a:r>
          </a:p>
        </p:txBody>
      </p:sp>
      <p:sp>
        <p:nvSpPr>
          <p:cNvPr id="1048778" name="TextBox 22"/>
          <p:cNvSpPr txBox="1"/>
          <p:nvPr/>
        </p:nvSpPr>
        <p:spPr>
          <a:xfrm>
            <a:off x="8686800" y="4727448"/>
            <a:ext cx="2560320" cy="26924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algn="r">
              <a:defRPr sz="1200" b="1">
                <a:solidFill>
                  <a:srgbClr val="C8956C"/>
                </a:solidFill>
                <a:latin typeface="微软雅黑" panose="020B0503020204020204" charset="-122"/>
              </a:defRPr>
            </a:pPr>
            <a:r>
              <a:t>综合得分 0.357</a:t>
            </a:r>
          </a:p>
        </p:txBody>
      </p:sp>
      <p:sp>
        <p:nvSpPr>
          <p:cNvPr id="1048779" name="TextBox 23"/>
          <p:cNvSpPr txBox="1"/>
          <p:nvPr/>
        </p:nvSpPr>
        <p:spPr>
          <a:xfrm>
            <a:off x="6583680" y="5029200"/>
            <a:ext cx="4572000" cy="25654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algn="l">
              <a:defRPr sz="1100" b="0">
                <a:solidFill>
                  <a:srgbClr val="6B6B6B"/>
                </a:solidFill>
                <a:latin typeface="微软雅黑" panose="020B0503020204020204" charset="-122"/>
              </a:defRPr>
            </a:pPr>
            <a:r>
              <a:t>窄菌褶多为有毒</a:t>
            </a:r>
          </a:p>
        </p:txBody>
      </p:sp>
      <p:sp>
        <p:nvSpPr>
          <p:cNvPr id="1048780" name="Rectangle 24"/>
          <p:cNvSpPr/>
          <p:nvPr/>
        </p:nvSpPr>
        <p:spPr>
          <a:xfrm>
            <a:off x="6400800" y="5486400"/>
            <a:ext cx="5029200" cy="685800"/>
          </a:xfrm>
          <a:prstGeom prst="rect">
            <a:avLst/>
          </a:prstGeom>
          <a:solidFill>
            <a:srgbClr val="D4E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</a:p>
        </p:txBody>
      </p:sp>
      <p:sp>
        <p:nvSpPr>
          <p:cNvPr id="1048781" name="TextBox 25"/>
          <p:cNvSpPr txBox="1"/>
          <p:nvPr/>
        </p:nvSpPr>
        <p:spPr>
          <a:xfrm>
            <a:off x="6583680" y="5504688"/>
            <a:ext cx="4572000" cy="29464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algn="l">
              <a:defRPr sz="1400" b="1">
                <a:solidFill>
                  <a:srgbClr val="1A2F23"/>
                </a:solidFill>
                <a:latin typeface="微软雅黑" panose="020B0503020204020204" charset="-122"/>
              </a:defRPr>
            </a:pPr>
            <a:r>
              <a:t>⑤ 菌环类型 (ring-type)</a:t>
            </a:r>
          </a:p>
        </p:txBody>
      </p:sp>
      <p:sp>
        <p:nvSpPr>
          <p:cNvPr id="1048782" name="TextBox 26"/>
          <p:cNvSpPr txBox="1"/>
          <p:nvPr/>
        </p:nvSpPr>
        <p:spPr>
          <a:xfrm>
            <a:off x="8686800" y="5504688"/>
            <a:ext cx="2560320" cy="26924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algn="r">
              <a:defRPr sz="1200" b="1">
                <a:solidFill>
                  <a:srgbClr val="C8956C"/>
                </a:solidFill>
                <a:latin typeface="微软雅黑" panose="020B0503020204020204" charset="-122"/>
              </a:defRPr>
            </a:pPr>
            <a:r>
              <a:t>综合得分 0.351</a:t>
            </a:r>
          </a:p>
        </p:txBody>
      </p:sp>
      <p:sp>
        <p:nvSpPr>
          <p:cNvPr id="1048783" name="TextBox 27"/>
          <p:cNvSpPr txBox="1"/>
          <p:nvPr/>
        </p:nvSpPr>
        <p:spPr>
          <a:xfrm>
            <a:off x="6583680" y="5806440"/>
            <a:ext cx="4572000" cy="256541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algn="l">
              <a:defRPr sz="1100" b="0">
                <a:solidFill>
                  <a:srgbClr val="6B6B6B"/>
                </a:solidFill>
                <a:latin typeface="微软雅黑" panose="020B0503020204020204" charset="-122"/>
              </a:defRPr>
            </a:pPr>
            <a:r>
              <a:t>垂落型菌环多为有毒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0"/>
        </a:solidFill>
        <a:effectLst/>
      </p:bgPr>
    </p:bg>
    <p:spTree>
      <p:nvGrpSpPr>
        <p:cNvPr id="42" name=""/>
        <p:cNvGrpSpPr/>
        <p:nvPr/>
      </p:nvGrpSpPr>
      <p:grpSpPr/>
      <p:sp>
        <p:nvSpPr>
          <p:cNvPr id="1048784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D5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</a:p>
        </p:txBody>
      </p:sp>
      <p:sp>
        <p:nvSpPr>
          <p:cNvPr id="1048785" name="TextBox 2"/>
          <p:cNvSpPr txBox="1"/>
          <p:nvPr/>
        </p:nvSpPr>
        <p:spPr>
          <a:xfrm>
            <a:off x="548640" y="137160"/>
            <a:ext cx="10058400" cy="57404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algn="l">
              <a:defRPr sz="32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关键发现：气味是最重要的判断依据</a:t>
            </a:r>
          </a:p>
        </p:txBody>
      </p:sp>
      <p:sp>
        <p:nvSpPr>
          <p:cNvPr id="1048786" name="TextBox 3"/>
          <p:cNvSpPr txBox="1"/>
          <p:nvPr/>
        </p:nvSpPr>
        <p:spPr>
          <a:xfrm>
            <a:off x="548640" y="685800"/>
            <a:ext cx="10058400" cy="29464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algn="l">
              <a:defRPr sz="1400" b="0">
                <a:solidFill>
                  <a:srgbClr val="D4E8DC"/>
                </a:solidFill>
                <a:latin typeface="微软雅黑" panose="020B0503020204020204" charset="-122"/>
              </a:defRPr>
            </a:pPr>
            <a:r>
              <a:t>Odor Analysis — 气味与毒性的强关联</a:t>
            </a:r>
          </a:p>
        </p:txBody>
      </p:sp>
      <p:sp>
        <p:nvSpPr>
          <p:cNvPr id="1048787" name="Rectangle 4"/>
          <p:cNvSpPr/>
          <p:nvPr/>
        </p:nvSpPr>
        <p:spPr>
          <a:xfrm>
            <a:off x="0" y="1097280"/>
            <a:ext cx="12191695" cy="36576"/>
          </a:xfrm>
          <a:prstGeom prst="rect">
            <a:avLst/>
          </a:prstGeom>
          <a:solidFill>
            <a:srgbClr val="C895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</a:p>
        </p:txBody>
      </p:sp>
      <p:pic>
        <p:nvPicPr>
          <p:cNvPr id="2097154" name="Picture 5" descr="odor_analysis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371600"/>
            <a:ext cx="6400800" cy="5029200"/>
          </a:xfrm>
          <a:prstGeom prst="rect">
            <a:avLst/>
          </a:prstGeom>
        </p:spPr>
      </p:pic>
      <p:sp>
        <p:nvSpPr>
          <p:cNvPr id="1048788" name="TextBox 6"/>
          <p:cNvSpPr txBox="1"/>
          <p:nvPr/>
        </p:nvSpPr>
        <p:spPr>
          <a:xfrm>
            <a:off x="6858000" y="1371600"/>
            <a:ext cx="4572000" cy="396239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algn="l">
              <a:defRPr sz="2000" b="1">
                <a:solidFill>
                  <a:srgbClr val="2D5A3D"/>
                </a:solidFill>
                <a:latin typeface="微软雅黑" panose="020B0503020204020204" charset="-122"/>
              </a:defRPr>
            </a:pPr>
            <a:r>
              <a:t>气味特征解读</a:t>
            </a:r>
          </a:p>
        </p:txBody>
      </p:sp>
      <p:sp>
        <p:nvSpPr>
          <p:cNvPr id="1048789" name="TextBox 7"/>
          <p:cNvSpPr txBox="1"/>
          <p:nvPr/>
        </p:nvSpPr>
        <p:spPr>
          <a:xfrm>
            <a:off x="6858000" y="1920240"/>
            <a:ext cx="4572000" cy="278384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>
              <a:spcBef>
                <a:spcPts val="800"/>
              </a:spcBef>
              <a:spcAft>
                <a:spcPts val="400"/>
              </a:spcAft>
              <a:defRPr sz="1400">
                <a:solidFill>
                  <a:srgbClr val="2C2C2C"/>
                </a:solidFill>
                <a:latin typeface="微软雅黑" panose="020B0503020204020204" charset="-122"/>
              </a:defRPr>
            </a:pPr>
            <a:r>
              <a:t>● ✅ 无味 (n) → 绝大多数可食用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400">
                <a:solidFill>
                  <a:srgbClr val="2C2C2C"/>
                </a:solidFill>
                <a:latin typeface="微软雅黑" panose="020B0503020204020204" charset="-122"/>
              </a:defRPr>
            </a:pPr>
            <a:r>
              <a:t>● ✅ 杏仁味 (a) → 可食用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400">
                <a:solidFill>
                  <a:srgbClr val="2C2C2C"/>
                </a:solidFill>
                <a:latin typeface="微软雅黑" panose="020B0503020204020204" charset="-122"/>
              </a:defRPr>
            </a:pPr>
            <a:r>
              <a:t>● ✅ 茴香味 (l) → 可食用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400">
                <a:solidFill>
                  <a:srgbClr val="2C2C2C"/>
                </a:solidFill>
                <a:latin typeface="微软雅黑" panose="020B0503020204020204" charset="-122"/>
              </a:defRPr>
            </a:pPr>
            <a:r>
              <a:t>● ☠️ 恶臭 (f) → 有毒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400">
                <a:solidFill>
                  <a:srgbClr val="2C2C2C"/>
                </a:solidFill>
                <a:latin typeface="微软雅黑" panose="020B0503020204020204" charset="-122"/>
              </a:defRPr>
            </a:pPr>
            <a:r>
              <a:t>● ☠️ 刺鼻 (p) → 有毒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400">
                <a:solidFill>
                  <a:srgbClr val="2C2C2C"/>
                </a:solidFill>
                <a:latin typeface="微软雅黑" panose="020B0503020204020204" charset="-122"/>
              </a:defRPr>
            </a:pPr>
            <a:r>
              <a:t>● ☠️ 辛辣 (s) → 有毒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400">
                <a:solidFill>
                  <a:srgbClr val="2C2C2C"/>
                </a:solidFill>
                <a:latin typeface="微软雅黑" panose="020B0503020204020204" charset="-122"/>
              </a:defRPr>
            </a:pPr>
            <a:r>
              <a:t>● ⚠️ 鱼腥味 (y) → 需结合其他特征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400">
                <a:solidFill>
                  <a:srgbClr val="2C2C2C"/>
                </a:solidFill>
                <a:latin typeface="微软雅黑" panose="020B0503020204020204" charset="-122"/>
              </a:defRPr>
            </a:pPr>
            <a:r>
              <a:t>● ⚠️ 霉味 (m) → 需结合其他特征</a:t>
            </a:r>
          </a:p>
        </p:txBody>
      </p:sp>
      <p:sp>
        <p:nvSpPr>
          <p:cNvPr id="1048790" name="Rectangle 8"/>
          <p:cNvSpPr/>
          <p:nvPr/>
        </p:nvSpPr>
        <p:spPr>
          <a:xfrm>
            <a:off x="6858000" y="5669280"/>
            <a:ext cx="4572000" cy="731520"/>
          </a:xfrm>
          <a:prstGeom prst="rect">
            <a:avLst/>
          </a:prstGeom>
          <a:solidFill>
            <a:srgbClr val="D4E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</a:p>
        </p:txBody>
      </p:sp>
      <p:sp>
        <p:nvSpPr>
          <p:cNvPr id="1048791" name="TextBox 9"/>
          <p:cNvSpPr txBox="1"/>
          <p:nvPr/>
        </p:nvSpPr>
        <p:spPr>
          <a:xfrm>
            <a:off x="7040880" y="5760720"/>
            <a:ext cx="4389120" cy="447041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algn="l">
              <a:defRPr sz="1200" b="0">
                <a:solidFill>
                  <a:srgbClr val="1A2F23"/>
                </a:solidFill>
                <a:latin typeface="微软雅黑" panose="020B0503020204020204" charset="-122"/>
              </a:defRPr>
            </a:pPr>
            <a:r>
              <a:t>💡 实际应用：在野外，闻气味是最快、最可靠的初步判断方法。如果蘑菇有刺鼻或恶臭，应立即丢弃。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0"/>
        </a:solidFill>
        <a:effectLst/>
      </p:bgPr>
    </p:bg>
    <p:spTree>
      <p:nvGrpSpPr>
        <p:cNvPr id="43" name=""/>
        <p:cNvGrpSpPr/>
        <p:nvPr/>
      </p:nvGrpSpPr>
      <p:grpSpPr/>
      <p:sp>
        <p:nvSpPr>
          <p:cNvPr id="104879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D5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</a:p>
        </p:txBody>
      </p:sp>
      <p:sp>
        <p:nvSpPr>
          <p:cNvPr id="1048793" name="TextBox 2"/>
          <p:cNvSpPr txBox="1"/>
          <p:nvPr/>
        </p:nvSpPr>
        <p:spPr>
          <a:xfrm>
            <a:off x="548640" y="137160"/>
            <a:ext cx="10058400" cy="57404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algn="l">
              <a:defRPr sz="32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模型性能对比</a:t>
            </a:r>
          </a:p>
        </p:txBody>
      </p:sp>
      <p:sp>
        <p:nvSpPr>
          <p:cNvPr id="1048794" name="TextBox 3"/>
          <p:cNvSpPr txBox="1"/>
          <p:nvPr/>
        </p:nvSpPr>
        <p:spPr>
          <a:xfrm>
            <a:off x="548640" y="685800"/>
            <a:ext cx="10058400" cy="29464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algn="l">
              <a:defRPr sz="1400" b="0">
                <a:solidFill>
                  <a:srgbClr val="D4E8DC"/>
                </a:solidFill>
                <a:latin typeface="微软雅黑" panose="020B0503020204020204" charset="-122"/>
              </a:defRPr>
            </a:pPr>
            <a:r>
              <a:t>Model Comparison — 六种模型的分类效果</a:t>
            </a:r>
          </a:p>
        </p:txBody>
      </p:sp>
      <p:sp>
        <p:nvSpPr>
          <p:cNvPr id="1048795" name="Rectangle 4"/>
          <p:cNvSpPr/>
          <p:nvPr/>
        </p:nvSpPr>
        <p:spPr>
          <a:xfrm>
            <a:off x="0" y="1097280"/>
            <a:ext cx="12191695" cy="36576"/>
          </a:xfrm>
          <a:prstGeom prst="rect">
            <a:avLst/>
          </a:prstGeom>
          <a:solidFill>
            <a:srgbClr val="C895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</a:p>
        </p:txBody>
      </p:sp>
      <p:pic>
        <p:nvPicPr>
          <p:cNvPr id="2097155" name="Picture 5" descr="model_comparison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371600"/>
            <a:ext cx="7315200" cy="5029200"/>
          </a:xfrm>
          <a:prstGeom prst="rect">
            <a:avLst/>
          </a:prstGeom>
        </p:spPr>
      </p:pic>
      <p:sp>
        <p:nvSpPr>
          <p:cNvPr id="1048796" name="TextBox 6"/>
          <p:cNvSpPr txBox="1"/>
          <p:nvPr/>
        </p:nvSpPr>
        <p:spPr>
          <a:xfrm>
            <a:off x="7772400" y="137160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algn="l">
              <a:defRPr sz="1800" b="1">
                <a:solidFill>
                  <a:srgbClr val="2D5A3D"/>
                </a:solidFill>
                <a:latin typeface="微软雅黑" panose="020B0503020204020204" charset="-122"/>
              </a:defRPr>
            </a:pPr>
            <a:r>
              <a:t>模型评估结果</a:t>
            </a:r>
          </a:p>
        </p:txBody>
      </p:sp>
      <p:graphicFrame>
        <p:nvGraphicFramePr>
          <p:cNvPr id="4194306" name="Table 7"/>
          <p:cNvGraphicFramePr>
            <a:graphicFrameLocks noGrp="1"/>
          </p:cNvGraphicFramePr>
          <p:nvPr/>
        </p:nvGraphicFramePr>
        <p:xfrm>
          <a:off x="7772400" y="1920240"/>
          <a:ext cx="393192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10640"/>
                <a:gridCol w="1310640"/>
                <a:gridCol w="1310640"/>
              </a:tblGrid>
              <a:tr h="457200">
                <a:tc>
                  <a:txBody>
                    <a:bodyPr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模型</a:t>
                      </a:r>
                    </a:p>
                  </a:txBody>
                  <a:tcPr>
                    <a:solidFill>
                      <a:srgbClr val="2D5A3D"/>
                    </a:solidFill>
                  </a:tcPr>
                </a:tc>
                <a:tc>
                  <a:txBody>
                    <a:bodyPr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准确率</a:t>
                      </a:r>
                    </a:p>
                  </a:txBody>
                  <a:tcPr>
                    <a:solidFill>
                      <a:srgbClr val="2D5A3D"/>
                    </a:solidFill>
                  </a:tcPr>
                </a:tc>
                <a:tc>
                  <a:txBody>
                    <a:bodyPr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F1</a:t>
                      </a:r>
                    </a:p>
                  </a:txBody>
                  <a:tcPr>
                    <a:solidFill>
                      <a:srgbClr val="2D5A3D"/>
                    </a:solidFill>
                  </a:tcPr>
                </a:tc>
              </a:tr>
              <a:tr h="457200">
                <a:tc>
                  <a:txBody>
                    <a:bodyPr/>
                    <a:p>
                      <a:pPr algn="ctr">
                        <a:defRPr sz="1200">
                          <a:solidFill>
                            <a:srgbClr val="2C2C2C"/>
                          </a:solidFill>
                          <a:latin typeface="微软雅黑" panose="020B0503020204020204" charset="-122"/>
                        </a:defRPr>
                      </a:pPr>
                      <a:r>
                        <a:t>逻辑回归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>
                        <a:defRPr sz="1200">
                          <a:solidFill>
                            <a:srgbClr val="2C2C2C"/>
                          </a:solidFill>
                          <a:latin typeface="微软雅黑" panose="020B0503020204020204" charset="-122"/>
                        </a:defRPr>
                      </a:pPr>
                      <a:r>
                        <a:t>96.25%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>
                        <a:defRPr sz="1200">
                          <a:solidFill>
                            <a:srgbClr val="2C2C2C"/>
                          </a:solidFill>
                          <a:latin typeface="微软雅黑" panose="020B0503020204020204" charset="-122"/>
                        </a:defRPr>
                      </a:pPr>
                      <a:r>
                        <a:t>96.10%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p>
                      <a:pPr algn="ctr">
                        <a:defRPr sz="1200">
                          <a:solidFill>
                            <a:srgbClr val="2C2C2C"/>
                          </a:solidFill>
                          <a:latin typeface="微软雅黑" panose="020B0503020204020204" charset="-122"/>
                        </a:defRPr>
                      </a:pPr>
                      <a:r>
                        <a:t>随机森林</a:t>
                      </a:r>
                    </a:p>
                  </a:txBody>
                  <a:tcPr>
                    <a:solidFill>
                      <a:srgbClr val="D4E8DC"/>
                    </a:solidFill>
                  </a:tcPr>
                </a:tc>
                <a:tc>
                  <a:txBody>
                    <a:bodyPr/>
                    <a:p>
                      <a:pPr algn="ctr">
                        <a:defRPr sz="1200">
                          <a:solidFill>
                            <a:srgbClr val="2C2C2C"/>
                          </a:solidFill>
                          <a:latin typeface="微软雅黑" panose="020B0503020204020204" charset="-122"/>
                        </a:defRPr>
                      </a:pPr>
                      <a:r>
                        <a:t>100%</a:t>
                      </a:r>
                    </a:p>
                  </a:txBody>
                  <a:tcPr>
                    <a:solidFill>
                      <a:srgbClr val="D4E8DC"/>
                    </a:solidFill>
                  </a:tcPr>
                </a:tc>
                <a:tc>
                  <a:txBody>
                    <a:bodyPr/>
                    <a:p>
                      <a:pPr algn="ctr">
                        <a:defRPr sz="1200">
                          <a:solidFill>
                            <a:srgbClr val="2C2C2C"/>
                          </a:solidFill>
                          <a:latin typeface="微软雅黑" panose="020B0503020204020204" charset="-122"/>
                        </a:defRPr>
                      </a:pPr>
                      <a:r>
                        <a:t>100%</a:t>
                      </a:r>
                    </a:p>
                  </a:txBody>
                  <a:tcPr>
                    <a:solidFill>
                      <a:srgbClr val="D4E8DC"/>
                    </a:solidFill>
                  </a:tcPr>
                </a:tc>
              </a:tr>
              <a:tr h="457200">
                <a:tc>
                  <a:txBody>
                    <a:bodyPr/>
                    <a:p>
                      <a:pPr algn="ctr">
                        <a:defRPr sz="1200">
                          <a:solidFill>
                            <a:srgbClr val="2C2C2C"/>
                          </a:solidFill>
                          <a:latin typeface="微软雅黑" panose="020B0503020204020204" charset="-122"/>
                        </a:defRPr>
                      </a:pPr>
                      <a:r>
                        <a:t>梯度提升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>
                        <a:defRPr sz="1200">
                          <a:solidFill>
                            <a:srgbClr val="2C2C2C"/>
                          </a:solidFill>
                          <a:latin typeface="微软雅黑" panose="020B0503020204020204" charset="-122"/>
                        </a:defRPr>
                      </a:pPr>
                      <a:r>
                        <a:t>100%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>
                        <a:defRPr sz="1200">
                          <a:solidFill>
                            <a:srgbClr val="2C2C2C"/>
                          </a:solidFill>
                          <a:latin typeface="微软雅黑" panose="020B0503020204020204" charset="-122"/>
                        </a:defRPr>
                      </a:pPr>
                      <a:r>
                        <a:t>100%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p>
                      <a:pPr algn="ctr">
                        <a:defRPr sz="1200">
                          <a:solidFill>
                            <a:srgbClr val="2C2C2C"/>
                          </a:solidFill>
                          <a:latin typeface="微软雅黑" panose="020B0503020204020204" charset="-122"/>
                        </a:defRPr>
                      </a:pPr>
                      <a:r>
                        <a:t>SVM</a:t>
                      </a:r>
                    </a:p>
                  </a:txBody>
                  <a:tcPr>
                    <a:solidFill>
                      <a:srgbClr val="D4E8DC"/>
                    </a:solidFill>
                  </a:tcPr>
                </a:tc>
                <a:tc>
                  <a:txBody>
                    <a:bodyPr/>
                    <a:p>
                      <a:pPr algn="ctr">
                        <a:defRPr sz="1200">
                          <a:solidFill>
                            <a:srgbClr val="2C2C2C"/>
                          </a:solidFill>
                          <a:latin typeface="微软雅黑" panose="020B0503020204020204" charset="-122"/>
                        </a:defRPr>
                      </a:pPr>
                      <a:r>
                        <a:t>100%</a:t>
                      </a:r>
                    </a:p>
                  </a:txBody>
                  <a:tcPr>
                    <a:solidFill>
                      <a:srgbClr val="D4E8DC"/>
                    </a:solidFill>
                  </a:tcPr>
                </a:tc>
                <a:tc>
                  <a:txBody>
                    <a:bodyPr/>
                    <a:p>
                      <a:pPr algn="ctr">
                        <a:defRPr sz="1200">
                          <a:solidFill>
                            <a:srgbClr val="2C2C2C"/>
                          </a:solidFill>
                          <a:latin typeface="微软雅黑" panose="020B0503020204020204" charset="-122"/>
                        </a:defRPr>
                      </a:pPr>
                      <a:r>
                        <a:t>100%</a:t>
                      </a:r>
                    </a:p>
                  </a:txBody>
                  <a:tcPr>
                    <a:solidFill>
                      <a:srgbClr val="D4E8DC"/>
                    </a:solidFill>
                  </a:tcPr>
                </a:tc>
              </a:tr>
              <a:tr h="457200">
                <a:tc>
                  <a:txBody>
                    <a:bodyPr/>
                    <a:p>
                      <a:pPr algn="ctr">
                        <a:defRPr sz="1200">
                          <a:solidFill>
                            <a:srgbClr val="2C2C2C"/>
                          </a:solidFill>
                          <a:latin typeface="微软雅黑" panose="020B0503020204020204" charset="-122"/>
                        </a:defRPr>
                      </a:pPr>
                      <a:r>
                        <a:t>KNN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>
                        <a:defRPr sz="1200">
                          <a:solidFill>
                            <a:srgbClr val="2C2C2C"/>
                          </a:solidFill>
                          <a:latin typeface="微软雅黑" panose="020B0503020204020204" charset="-122"/>
                        </a:defRPr>
                      </a:pPr>
                      <a:r>
                        <a:t>100%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>
                        <a:defRPr sz="1200">
                          <a:solidFill>
                            <a:srgbClr val="2C2C2C"/>
                          </a:solidFill>
                          <a:latin typeface="微软雅黑" panose="020B0503020204020204" charset="-122"/>
                        </a:defRPr>
                      </a:pPr>
                      <a:r>
                        <a:t>100%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p>
                      <a:pPr algn="ctr">
                        <a:defRPr sz="1200">
                          <a:solidFill>
                            <a:srgbClr val="2C2C2C"/>
                          </a:solidFill>
                          <a:latin typeface="微软雅黑" panose="020B0503020204020204" charset="-122"/>
                        </a:defRPr>
                      </a:pPr>
                      <a:r>
                        <a:t>决策树</a:t>
                      </a:r>
                    </a:p>
                  </a:txBody>
                  <a:tcPr>
                    <a:solidFill>
                      <a:srgbClr val="D4E8DC"/>
                    </a:solidFill>
                  </a:tcPr>
                </a:tc>
                <a:tc>
                  <a:txBody>
                    <a:bodyPr/>
                    <a:p>
                      <a:pPr algn="ctr">
                        <a:defRPr sz="1200">
                          <a:solidFill>
                            <a:srgbClr val="2C2C2C"/>
                          </a:solidFill>
                          <a:latin typeface="微软雅黑" panose="020B0503020204020204" charset="-122"/>
                        </a:defRPr>
                      </a:pPr>
                      <a:r>
                        <a:t>100%</a:t>
                      </a:r>
                    </a:p>
                  </a:txBody>
                  <a:tcPr>
                    <a:solidFill>
                      <a:srgbClr val="D4E8DC"/>
                    </a:solidFill>
                  </a:tcPr>
                </a:tc>
                <a:tc>
                  <a:txBody>
                    <a:bodyPr/>
                    <a:p>
                      <a:pPr algn="ctr">
                        <a:defRPr sz="1200">
                          <a:solidFill>
                            <a:srgbClr val="2C2C2C"/>
                          </a:solidFill>
                          <a:latin typeface="微软雅黑" panose="020B0503020204020204" charset="-122"/>
                        </a:defRPr>
                      </a:pPr>
                      <a:r>
                        <a:t>100%</a:t>
                      </a:r>
                    </a:p>
                  </a:txBody>
                  <a:tcPr>
                    <a:solidFill>
                      <a:srgbClr val="D4E8DC"/>
                    </a:solidFill>
                  </a:tcPr>
                </a:tc>
              </a:tr>
            </a:tbl>
          </a:graphicData>
        </a:graphic>
      </p:graphicFrame>
      <p:sp>
        <p:nvSpPr>
          <p:cNvPr id="1048797" name="TextBox 8"/>
          <p:cNvSpPr txBox="1"/>
          <p:nvPr/>
        </p:nvSpPr>
        <p:spPr>
          <a:xfrm>
            <a:off x="7772400" y="5303520"/>
            <a:ext cx="3931920" cy="85344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algn="l">
              <a:defRPr sz="1300" b="0">
                <a:solidFill>
                  <a:srgbClr val="1A2F23"/>
                </a:solidFill>
                <a:latin typeface="微软雅黑" panose="020B0503020204020204" charset="-122"/>
              </a:defRPr>
            </a:pPr>
            <a:r>
              <a:t>⭐ 5个模型达到100%准确率！</a:t>
            </a:r>
            <a:br/>
            <a:br/>
            <a:r>
              <a:t>说明该数据集的类别边界非常清晰，蘑菇的形态学特征与毒性之间存在强关联。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0"/>
        </a:solidFill>
        <a:effectLst/>
      </p:bgPr>
    </p:bg>
    <p:spTree>
      <p:nvGrpSpPr>
        <p:cNvPr id="44" name=""/>
        <p:cNvGrpSpPr/>
        <p:nvPr/>
      </p:nvGrpSpPr>
      <p:grpSpPr/>
      <p:sp>
        <p:nvSpPr>
          <p:cNvPr id="1048798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D5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</a:p>
        </p:txBody>
      </p:sp>
      <p:sp>
        <p:nvSpPr>
          <p:cNvPr id="1048799" name="TextBox 2"/>
          <p:cNvSpPr txBox="1"/>
          <p:nvPr/>
        </p:nvSpPr>
        <p:spPr>
          <a:xfrm>
            <a:off x="548640" y="137160"/>
            <a:ext cx="10058400" cy="57404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algn="l">
              <a:defRPr sz="32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模型评估 — ROC 曲线与混淆矩阵</a:t>
            </a:r>
          </a:p>
        </p:txBody>
      </p:sp>
      <p:sp>
        <p:nvSpPr>
          <p:cNvPr id="1048800" name="TextBox 3"/>
          <p:cNvSpPr txBox="1"/>
          <p:nvPr/>
        </p:nvSpPr>
        <p:spPr>
          <a:xfrm>
            <a:off x="548640" y="685800"/>
            <a:ext cx="10058400" cy="29464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algn="l">
              <a:defRPr sz="1400" b="0">
                <a:solidFill>
                  <a:srgbClr val="D4E8DC"/>
                </a:solidFill>
                <a:latin typeface="微软雅黑" panose="020B0503020204020204" charset="-122"/>
              </a:defRPr>
            </a:pPr>
            <a:r>
              <a:t>ROC Curve &amp; Confusion Matrix — 深入评估模型表现</a:t>
            </a:r>
          </a:p>
        </p:txBody>
      </p:sp>
      <p:sp>
        <p:nvSpPr>
          <p:cNvPr id="1048801" name="Rectangle 4"/>
          <p:cNvSpPr/>
          <p:nvPr/>
        </p:nvSpPr>
        <p:spPr>
          <a:xfrm>
            <a:off x="0" y="1097280"/>
            <a:ext cx="12191695" cy="36576"/>
          </a:xfrm>
          <a:prstGeom prst="rect">
            <a:avLst/>
          </a:prstGeom>
          <a:solidFill>
            <a:srgbClr val="C895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</a:p>
        </p:txBody>
      </p:sp>
      <p:pic>
        <p:nvPicPr>
          <p:cNvPr id="2097156" name="Picture 5" descr="roc_curves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371600"/>
            <a:ext cx="5760720" cy="5029200"/>
          </a:xfrm>
          <a:prstGeom prst="rect">
            <a:avLst/>
          </a:prstGeom>
        </p:spPr>
      </p:pic>
      <p:pic>
        <p:nvPicPr>
          <p:cNvPr id="2097157" name="Picture 6" descr="confusion_matrix_be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371600"/>
            <a:ext cx="5486400" cy="4572000"/>
          </a:xfrm>
          <a:prstGeom prst="rect">
            <a:avLst/>
          </a:prstGeom>
        </p:spPr>
      </p:pic>
      <p:sp>
        <p:nvSpPr>
          <p:cNvPr id="1048802" name="Rectangle 7"/>
          <p:cNvSpPr/>
          <p:nvPr/>
        </p:nvSpPr>
        <p:spPr>
          <a:xfrm>
            <a:off x="274320" y="6400800"/>
            <a:ext cx="11612880" cy="365760"/>
          </a:xfrm>
          <a:prstGeom prst="rect">
            <a:avLst/>
          </a:prstGeom>
          <a:solidFill>
            <a:srgbClr val="D4E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</a:p>
        </p:txBody>
      </p:sp>
      <p:sp>
        <p:nvSpPr>
          <p:cNvPr id="1048803" name="TextBox 8"/>
          <p:cNvSpPr txBox="1"/>
          <p:nvPr/>
        </p:nvSpPr>
        <p:spPr>
          <a:xfrm>
            <a:off x="457200" y="6400800"/>
            <a:ext cx="11247120" cy="281941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algn="ctr">
              <a:defRPr sz="1300" b="0">
                <a:solidFill>
                  <a:srgbClr val="1A2F23"/>
                </a:solidFill>
                <a:latin typeface="微软雅黑" panose="020B0503020204020204" charset="-122"/>
              </a:defRPr>
            </a:pPr>
            <a:r>
              <a:t>ROC 曲线越靠近左上角越好（AUC=1.0 为完美）  |  混淆矩阵显示：最佳模型在测试集上零误判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0"/>
        </a:solidFill>
        <a:effectLst/>
      </p:bgPr>
    </p:bg>
    <p:spTree>
      <p:nvGrpSpPr>
        <p:cNvPr id="45" name=""/>
        <p:cNvGrpSpPr/>
        <p:nvPr/>
      </p:nvGrpSpPr>
      <p:grpSpPr/>
      <p:sp>
        <p:nvSpPr>
          <p:cNvPr id="1048804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D5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</a:p>
        </p:txBody>
      </p:sp>
      <p:sp>
        <p:nvSpPr>
          <p:cNvPr id="1048805" name="TextBox 2"/>
          <p:cNvSpPr txBox="1"/>
          <p:nvPr/>
        </p:nvSpPr>
        <p:spPr>
          <a:xfrm>
            <a:off x="548640" y="137160"/>
            <a:ext cx="10058400" cy="57404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algn="l">
              <a:defRPr sz="32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交互式数据仪表盘</a:t>
            </a:r>
          </a:p>
        </p:txBody>
      </p:sp>
      <p:sp>
        <p:nvSpPr>
          <p:cNvPr id="1048806" name="TextBox 3"/>
          <p:cNvSpPr txBox="1"/>
          <p:nvPr/>
        </p:nvSpPr>
        <p:spPr>
          <a:xfrm>
            <a:off x="548640" y="685800"/>
            <a:ext cx="10058400" cy="29464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algn="l">
              <a:defRPr sz="1400" b="0">
                <a:solidFill>
                  <a:srgbClr val="D4E8DC"/>
                </a:solidFill>
                <a:latin typeface="微软雅黑" panose="020B0503020204020204" charset="-122"/>
              </a:defRPr>
            </a:pPr>
            <a:r>
              <a:t>Interactive Dashboard — HTML + Chart.js 可视化平台</a:t>
            </a:r>
          </a:p>
        </p:txBody>
      </p:sp>
      <p:sp>
        <p:nvSpPr>
          <p:cNvPr id="1048807" name="Rectangle 4"/>
          <p:cNvSpPr/>
          <p:nvPr/>
        </p:nvSpPr>
        <p:spPr>
          <a:xfrm>
            <a:off x="0" y="1097280"/>
            <a:ext cx="12191695" cy="36576"/>
          </a:xfrm>
          <a:prstGeom prst="rect">
            <a:avLst/>
          </a:prstGeom>
          <a:solidFill>
            <a:srgbClr val="C895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</a:p>
        </p:txBody>
      </p:sp>
      <p:sp>
        <p:nvSpPr>
          <p:cNvPr id="1048808" name="TextBox 5"/>
          <p:cNvSpPr txBox="1"/>
          <p:nvPr/>
        </p:nvSpPr>
        <p:spPr>
          <a:xfrm>
            <a:off x="548640" y="13716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algn="l">
              <a:defRPr sz="1500" b="0">
                <a:solidFill>
                  <a:srgbClr val="6B6B6B"/>
                </a:solidFill>
                <a:latin typeface="微软雅黑" panose="020B0503020204020204" charset="-122"/>
              </a:defRPr>
            </a:pPr>
            <a:r>
              <a:t>我们额外开发了一个基于浏览器的交互式仪表盘，让分析结果更直观易懂</a:t>
            </a:r>
          </a:p>
        </p:txBody>
      </p:sp>
      <p:sp>
        <p:nvSpPr>
          <p:cNvPr id="1048809" name="Rectangle 6"/>
          <p:cNvSpPr/>
          <p:nvPr/>
        </p:nvSpPr>
        <p:spPr>
          <a:xfrm>
            <a:off x="457200" y="2011680"/>
            <a:ext cx="3566160" cy="1645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</a:p>
        </p:txBody>
      </p:sp>
      <p:sp>
        <p:nvSpPr>
          <p:cNvPr id="1048810" name="Rectangle 7"/>
          <p:cNvSpPr/>
          <p:nvPr/>
        </p:nvSpPr>
        <p:spPr>
          <a:xfrm>
            <a:off x="457200" y="2011680"/>
            <a:ext cx="3566160" cy="54864"/>
          </a:xfrm>
          <a:prstGeom prst="rect">
            <a:avLst/>
          </a:prstGeom>
          <a:solidFill>
            <a:srgbClr val="C895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</a:p>
        </p:txBody>
      </p:sp>
      <p:sp>
        <p:nvSpPr>
          <p:cNvPr id="1048811" name="TextBox 8"/>
          <p:cNvSpPr txBox="1"/>
          <p:nvPr/>
        </p:nvSpPr>
        <p:spPr>
          <a:xfrm>
            <a:off x="640080" y="2148840"/>
            <a:ext cx="3200400" cy="33274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algn="l">
              <a:defRPr sz="1600" b="1">
                <a:solidFill>
                  <a:srgbClr val="2D5A3D"/>
                </a:solidFill>
                <a:latin typeface="微软雅黑" panose="020B0503020204020204" charset="-122"/>
              </a:defRPr>
            </a:pPr>
            <a:r>
              <a:t>📥 数据导入</a:t>
            </a:r>
          </a:p>
        </p:txBody>
      </p:sp>
      <p:sp>
        <p:nvSpPr>
          <p:cNvPr id="1048812" name="TextBox 9"/>
          <p:cNvSpPr txBox="1"/>
          <p:nvPr/>
        </p:nvSpPr>
        <p:spPr>
          <a:xfrm>
            <a:off x="640080" y="2560320"/>
            <a:ext cx="3200400" cy="47244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algn="l">
              <a:defRPr sz="1300" b="0">
                <a:solidFill>
                  <a:srgbClr val="6B6B6B"/>
                </a:solidFill>
                <a:latin typeface="微软雅黑" panose="020B0503020204020204" charset="-122"/>
              </a:defRPr>
            </a:pPr>
            <a:r>
              <a:t>支持拖拽上传CSV</a:t>
            </a:r>
            <a:br/>
            <a:r>
              <a:t>自动解析数据格式</a:t>
            </a:r>
          </a:p>
        </p:txBody>
      </p:sp>
      <p:sp>
        <p:nvSpPr>
          <p:cNvPr id="1048813" name="Rectangle 10"/>
          <p:cNvSpPr/>
          <p:nvPr/>
        </p:nvSpPr>
        <p:spPr>
          <a:xfrm>
            <a:off x="4297680" y="2011680"/>
            <a:ext cx="3566160" cy="1645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</a:p>
        </p:txBody>
      </p:sp>
      <p:sp>
        <p:nvSpPr>
          <p:cNvPr id="1048814" name="Rectangle 11"/>
          <p:cNvSpPr/>
          <p:nvPr/>
        </p:nvSpPr>
        <p:spPr>
          <a:xfrm>
            <a:off x="4297680" y="2011680"/>
            <a:ext cx="3566160" cy="54864"/>
          </a:xfrm>
          <a:prstGeom prst="rect">
            <a:avLst/>
          </a:prstGeom>
          <a:solidFill>
            <a:srgbClr val="C895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</a:p>
        </p:txBody>
      </p:sp>
      <p:sp>
        <p:nvSpPr>
          <p:cNvPr id="1048815" name="TextBox 12"/>
          <p:cNvSpPr txBox="1"/>
          <p:nvPr/>
        </p:nvSpPr>
        <p:spPr>
          <a:xfrm>
            <a:off x="4480560" y="2148840"/>
            <a:ext cx="3200400" cy="33274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algn="l">
              <a:defRPr sz="1600" b="1">
                <a:solidFill>
                  <a:srgbClr val="2D5A3D"/>
                </a:solidFill>
                <a:latin typeface="微软雅黑" panose="020B0503020204020204" charset="-122"/>
              </a:defRPr>
            </a:pPr>
            <a:r>
              <a:t>📊 数据概览</a:t>
            </a:r>
          </a:p>
        </p:txBody>
      </p:sp>
      <p:sp>
        <p:nvSpPr>
          <p:cNvPr id="1048816" name="TextBox 13"/>
          <p:cNvSpPr txBox="1"/>
          <p:nvPr/>
        </p:nvSpPr>
        <p:spPr>
          <a:xfrm>
            <a:off x="4480560" y="2560320"/>
            <a:ext cx="3200400" cy="47244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algn="l">
              <a:defRPr sz="1300" b="0">
                <a:solidFill>
                  <a:srgbClr val="6B6B6B"/>
                </a:solidFill>
                <a:latin typeface="微软雅黑" panose="020B0503020204020204" charset="-122"/>
              </a:defRPr>
            </a:pPr>
            <a:r>
              <a:t>KPI 指标卡片</a:t>
            </a:r>
            <a:br/>
            <a:r>
              <a:t>类别分布饼图</a:t>
            </a:r>
          </a:p>
        </p:txBody>
      </p:sp>
      <p:sp>
        <p:nvSpPr>
          <p:cNvPr id="1048817" name="Rectangle 14"/>
          <p:cNvSpPr/>
          <p:nvPr/>
        </p:nvSpPr>
        <p:spPr>
          <a:xfrm>
            <a:off x="8138160" y="2011680"/>
            <a:ext cx="3566160" cy="1645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</a:p>
        </p:txBody>
      </p:sp>
      <p:sp>
        <p:nvSpPr>
          <p:cNvPr id="1048818" name="Rectangle 15"/>
          <p:cNvSpPr/>
          <p:nvPr/>
        </p:nvSpPr>
        <p:spPr>
          <a:xfrm>
            <a:off x="8138160" y="2011680"/>
            <a:ext cx="3566160" cy="54864"/>
          </a:xfrm>
          <a:prstGeom prst="rect">
            <a:avLst/>
          </a:prstGeom>
          <a:solidFill>
            <a:srgbClr val="C895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</a:p>
        </p:txBody>
      </p:sp>
      <p:sp>
        <p:nvSpPr>
          <p:cNvPr id="1048819" name="TextBox 16"/>
          <p:cNvSpPr txBox="1"/>
          <p:nvPr/>
        </p:nvSpPr>
        <p:spPr>
          <a:xfrm>
            <a:off x="8321040" y="2148840"/>
            <a:ext cx="3200400" cy="33274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algn="l">
              <a:defRPr sz="1600" b="1">
                <a:solidFill>
                  <a:srgbClr val="2D5A3D"/>
                </a:solidFill>
                <a:latin typeface="微软雅黑" panose="020B0503020204020204" charset="-122"/>
              </a:defRPr>
            </a:pPr>
            <a:r>
              <a:t>🔍 数据浏览</a:t>
            </a:r>
          </a:p>
        </p:txBody>
      </p:sp>
      <p:sp>
        <p:nvSpPr>
          <p:cNvPr id="1048820" name="TextBox 17"/>
          <p:cNvSpPr txBox="1"/>
          <p:nvPr/>
        </p:nvSpPr>
        <p:spPr>
          <a:xfrm>
            <a:off x="8321040" y="2560320"/>
            <a:ext cx="3200400" cy="47244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algn="l">
              <a:defRPr sz="1300" b="0">
                <a:solidFill>
                  <a:srgbClr val="6B6B6B"/>
                </a:solidFill>
                <a:latin typeface="微软雅黑" panose="020B0503020204020204" charset="-122"/>
              </a:defRPr>
            </a:pPr>
            <a:r>
              <a:t>搜索筛选功能</a:t>
            </a:r>
            <a:br/>
            <a:r>
              <a:t>分页浏览数据</a:t>
            </a:r>
          </a:p>
        </p:txBody>
      </p:sp>
      <p:sp>
        <p:nvSpPr>
          <p:cNvPr id="1048821" name="Rectangle 18"/>
          <p:cNvSpPr/>
          <p:nvPr/>
        </p:nvSpPr>
        <p:spPr>
          <a:xfrm>
            <a:off x="457200" y="4023360"/>
            <a:ext cx="3566160" cy="1645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</a:p>
        </p:txBody>
      </p:sp>
      <p:sp>
        <p:nvSpPr>
          <p:cNvPr id="1048822" name="Rectangle 19"/>
          <p:cNvSpPr/>
          <p:nvPr/>
        </p:nvSpPr>
        <p:spPr>
          <a:xfrm>
            <a:off x="457200" y="4023360"/>
            <a:ext cx="3566160" cy="54864"/>
          </a:xfrm>
          <a:prstGeom prst="rect">
            <a:avLst/>
          </a:prstGeom>
          <a:solidFill>
            <a:srgbClr val="C895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</a:p>
        </p:txBody>
      </p:sp>
      <p:sp>
        <p:nvSpPr>
          <p:cNvPr id="1048823" name="TextBox 20"/>
          <p:cNvSpPr txBox="1"/>
          <p:nvPr/>
        </p:nvSpPr>
        <p:spPr>
          <a:xfrm>
            <a:off x="640080" y="4160520"/>
            <a:ext cx="3200400" cy="332741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algn="l">
              <a:defRPr sz="1600" b="1">
                <a:solidFill>
                  <a:srgbClr val="2D5A3D"/>
                </a:solidFill>
                <a:latin typeface="微软雅黑" panose="020B0503020204020204" charset="-122"/>
              </a:defRPr>
            </a:pPr>
            <a:r>
              <a:t>🧬 特征分析</a:t>
            </a:r>
          </a:p>
        </p:txBody>
      </p:sp>
      <p:sp>
        <p:nvSpPr>
          <p:cNvPr id="1048824" name="TextBox 21"/>
          <p:cNvSpPr txBox="1"/>
          <p:nvPr/>
        </p:nvSpPr>
        <p:spPr>
          <a:xfrm>
            <a:off x="640080" y="4572000"/>
            <a:ext cx="3200400" cy="47244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algn="l">
              <a:defRPr sz="1300" b="0">
                <a:solidFill>
                  <a:srgbClr val="6B6B6B"/>
                </a:solidFill>
                <a:latin typeface="微软雅黑" panose="020B0503020204020204" charset="-122"/>
              </a:defRPr>
            </a:pPr>
            <a:r>
              <a:t>特征重要性排名</a:t>
            </a:r>
            <a:br/>
            <a:r>
              <a:t>特征与类别关系图</a:t>
            </a:r>
          </a:p>
        </p:txBody>
      </p:sp>
      <p:sp>
        <p:nvSpPr>
          <p:cNvPr id="1048825" name="Rectangle 22"/>
          <p:cNvSpPr/>
          <p:nvPr/>
        </p:nvSpPr>
        <p:spPr>
          <a:xfrm>
            <a:off x="4297680" y="4023360"/>
            <a:ext cx="3566160" cy="1645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</a:p>
        </p:txBody>
      </p:sp>
      <p:sp>
        <p:nvSpPr>
          <p:cNvPr id="1048826" name="Rectangle 23"/>
          <p:cNvSpPr/>
          <p:nvPr/>
        </p:nvSpPr>
        <p:spPr>
          <a:xfrm>
            <a:off x="4297680" y="4023360"/>
            <a:ext cx="3566160" cy="54864"/>
          </a:xfrm>
          <a:prstGeom prst="rect">
            <a:avLst/>
          </a:prstGeom>
          <a:solidFill>
            <a:srgbClr val="C895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</a:p>
        </p:txBody>
      </p:sp>
      <p:sp>
        <p:nvSpPr>
          <p:cNvPr id="1048827" name="TextBox 24"/>
          <p:cNvSpPr txBox="1"/>
          <p:nvPr/>
        </p:nvSpPr>
        <p:spPr>
          <a:xfrm>
            <a:off x="4480560" y="4160520"/>
            <a:ext cx="3200400" cy="332741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algn="l">
              <a:defRPr sz="1600" b="1">
                <a:solidFill>
                  <a:srgbClr val="2D5A3D"/>
                </a:solidFill>
                <a:latin typeface="微软雅黑" panose="020B0503020204020204" charset="-122"/>
              </a:defRPr>
            </a:pPr>
            <a:r>
              <a:t>🤖 模型性能</a:t>
            </a:r>
          </a:p>
        </p:txBody>
      </p:sp>
      <p:sp>
        <p:nvSpPr>
          <p:cNvPr id="1048828" name="TextBox 25"/>
          <p:cNvSpPr txBox="1"/>
          <p:nvPr/>
        </p:nvSpPr>
        <p:spPr>
          <a:xfrm>
            <a:off x="4480560" y="4572000"/>
            <a:ext cx="3200400" cy="47244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algn="l">
              <a:defRPr sz="1300" b="0">
                <a:solidFill>
                  <a:srgbClr val="6B6B6B"/>
                </a:solidFill>
                <a:latin typeface="微软雅黑" panose="020B0503020204020204" charset="-122"/>
              </a:defRPr>
            </a:pPr>
            <a:r>
              <a:t>6种模型对比表</a:t>
            </a:r>
            <a:br/>
            <a:r>
              <a:t>雷达图综合评估</a:t>
            </a:r>
          </a:p>
        </p:txBody>
      </p:sp>
      <p:sp>
        <p:nvSpPr>
          <p:cNvPr id="1048829" name="Rectangle 26"/>
          <p:cNvSpPr/>
          <p:nvPr/>
        </p:nvSpPr>
        <p:spPr>
          <a:xfrm>
            <a:off x="8138160" y="4023360"/>
            <a:ext cx="3566160" cy="1645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</a:p>
        </p:txBody>
      </p:sp>
      <p:sp>
        <p:nvSpPr>
          <p:cNvPr id="1048830" name="Rectangle 27"/>
          <p:cNvSpPr/>
          <p:nvPr/>
        </p:nvSpPr>
        <p:spPr>
          <a:xfrm>
            <a:off x="8138160" y="4023360"/>
            <a:ext cx="3566160" cy="54864"/>
          </a:xfrm>
          <a:prstGeom prst="rect">
            <a:avLst/>
          </a:prstGeom>
          <a:solidFill>
            <a:srgbClr val="C895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</a:p>
        </p:txBody>
      </p:sp>
      <p:sp>
        <p:nvSpPr>
          <p:cNvPr id="1048831" name="TextBox 28"/>
          <p:cNvSpPr txBox="1"/>
          <p:nvPr/>
        </p:nvSpPr>
        <p:spPr>
          <a:xfrm>
            <a:off x="8321040" y="4160520"/>
            <a:ext cx="3200400" cy="332741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algn="l">
              <a:defRPr sz="1600" b="1">
                <a:solidFill>
                  <a:srgbClr val="2D5A3D"/>
                </a:solidFill>
                <a:latin typeface="微软雅黑" panose="020B0503020204020204" charset="-122"/>
              </a:defRPr>
            </a:pPr>
            <a:r>
              <a:t>🔮 预测工具</a:t>
            </a:r>
          </a:p>
        </p:txBody>
      </p:sp>
      <p:sp>
        <p:nvSpPr>
          <p:cNvPr id="1048832" name="TextBox 29"/>
          <p:cNvSpPr txBox="1"/>
          <p:nvPr/>
        </p:nvSpPr>
        <p:spPr>
          <a:xfrm>
            <a:off x="8321040" y="4572000"/>
            <a:ext cx="3200400" cy="47244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algn="l">
              <a:defRPr sz="1300" b="0">
                <a:solidFill>
                  <a:srgbClr val="6B6B6B"/>
                </a:solidFill>
                <a:latin typeface="微软雅黑" panose="020B0503020204020204" charset="-122"/>
              </a:defRPr>
            </a:pPr>
            <a:r>
              <a:t>输入特征即时预测</a:t>
            </a:r>
            <a:br/>
            <a:r>
              <a:t>显示置信度</a:t>
            </a:r>
          </a:p>
        </p:txBody>
      </p:sp>
      <p:sp>
        <p:nvSpPr>
          <p:cNvPr id="1048833" name="TextBox 30"/>
          <p:cNvSpPr txBox="1"/>
          <p:nvPr/>
        </p:nvSpPr>
        <p:spPr>
          <a:xfrm>
            <a:off x="548640" y="6217920"/>
            <a:ext cx="10972800" cy="28194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algn="ctr">
              <a:defRPr sz="1300" b="1">
                <a:solidFill>
                  <a:srgbClr val="C8956C"/>
                </a:solidFill>
                <a:latin typeface="微软雅黑" panose="020B0503020204020204" charset="-122"/>
              </a:defRPr>
            </a:pPr>
            <a:r>
              <a:t>技术栈：Chart.js (CDN) · Google Fonts · CSS Grid/Flexbox · 原生 JavaScript CSV 解析器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0"/>
        </a:solidFill>
        <a:effectLst/>
      </p:bgPr>
    </p:bg>
    <p:spTree>
      <p:nvGrpSpPr>
        <p:cNvPr id="46" name=""/>
        <p:cNvGrpSpPr/>
        <p:nvPr/>
      </p:nvGrpSpPr>
      <p:grpSpPr/>
      <p:sp>
        <p:nvSpPr>
          <p:cNvPr id="1048834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D5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</a:p>
        </p:txBody>
      </p:sp>
      <p:sp>
        <p:nvSpPr>
          <p:cNvPr id="1048835" name="TextBox 2"/>
          <p:cNvSpPr txBox="1"/>
          <p:nvPr/>
        </p:nvSpPr>
        <p:spPr>
          <a:xfrm>
            <a:off x="548640" y="137160"/>
            <a:ext cx="10058400" cy="57404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algn="l">
              <a:defRPr sz="32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关键发现与结论</a:t>
            </a:r>
          </a:p>
        </p:txBody>
      </p:sp>
      <p:sp>
        <p:nvSpPr>
          <p:cNvPr id="1048836" name="TextBox 3"/>
          <p:cNvSpPr txBox="1"/>
          <p:nvPr/>
        </p:nvSpPr>
        <p:spPr>
          <a:xfrm>
            <a:off x="548640" y="685800"/>
            <a:ext cx="10058400" cy="29464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algn="l">
              <a:defRPr sz="1400" b="0">
                <a:solidFill>
                  <a:srgbClr val="D4E8DC"/>
                </a:solidFill>
                <a:latin typeface="微软雅黑" panose="020B0503020204020204" charset="-122"/>
              </a:defRPr>
            </a:pPr>
            <a:r>
              <a:t>Key Findings &amp; Conclusions</a:t>
            </a:r>
          </a:p>
        </p:txBody>
      </p:sp>
      <p:sp>
        <p:nvSpPr>
          <p:cNvPr id="1048837" name="Rectangle 4"/>
          <p:cNvSpPr/>
          <p:nvPr/>
        </p:nvSpPr>
        <p:spPr>
          <a:xfrm>
            <a:off x="0" y="1097280"/>
            <a:ext cx="12191695" cy="36576"/>
          </a:xfrm>
          <a:prstGeom prst="rect">
            <a:avLst/>
          </a:prstGeom>
          <a:solidFill>
            <a:srgbClr val="C895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</a:p>
        </p:txBody>
      </p:sp>
      <p:sp>
        <p:nvSpPr>
          <p:cNvPr id="1048838" name="Rectangle 5"/>
          <p:cNvSpPr/>
          <p:nvPr/>
        </p:nvSpPr>
        <p:spPr>
          <a:xfrm>
            <a:off x="548640" y="1371600"/>
            <a:ext cx="1828800" cy="411480"/>
          </a:xfrm>
          <a:prstGeom prst="rect">
            <a:avLst/>
          </a:prstGeom>
          <a:solidFill>
            <a:srgbClr val="2D5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</a:p>
        </p:txBody>
      </p:sp>
      <p:sp>
        <p:nvSpPr>
          <p:cNvPr id="1048839" name="TextBox 6"/>
          <p:cNvSpPr txBox="1"/>
          <p:nvPr/>
        </p:nvSpPr>
        <p:spPr>
          <a:xfrm>
            <a:off x="548640" y="1389888"/>
            <a:ext cx="1828800" cy="29464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algn="ctr">
              <a:defRPr sz="14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特征重要性</a:t>
            </a:r>
          </a:p>
        </p:txBody>
      </p:sp>
      <p:sp>
        <p:nvSpPr>
          <p:cNvPr id="1048840" name="TextBox 7"/>
          <p:cNvSpPr txBox="1"/>
          <p:nvPr/>
        </p:nvSpPr>
        <p:spPr>
          <a:xfrm>
            <a:off x="2743200" y="1371600"/>
            <a:ext cx="8686800" cy="358141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algn="l">
              <a:defRPr sz="1800" b="1">
                <a:solidFill>
                  <a:srgbClr val="1A2F23"/>
                </a:solidFill>
                <a:latin typeface="微软雅黑" panose="020B0503020204020204" charset="-122"/>
              </a:defRPr>
            </a:pPr>
            <a:r>
              <a:t>气味 (odor) 是判断蘑菇毒性的最关键特征</a:t>
            </a:r>
          </a:p>
        </p:txBody>
      </p:sp>
      <p:sp>
        <p:nvSpPr>
          <p:cNvPr id="1048841" name="TextBox 8"/>
          <p:cNvSpPr txBox="1"/>
          <p:nvPr/>
        </p:nvSpPr>
        <p:spPr>
          <a:xfrm>
            <a:off x="2743200" y="1828800"/>
            <a:ext cx="8686800" cy="497841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algn="l">
              <a:defRPr sz="1400" b="0">
                <a:solidFill>
                  <a:srgbClr val="6B6B6B"/>
                </a:solidFill>
                <a:latin typeface="微软雅黑" panose="020B0503020204020204" charset="-122"/>
              </a:defRPr>
            </a:pPr>
            <a:r>
              <a:t>综合随机森林、卡方检验和互信息三种方法，气味特征的信息增益远超其他特征。恶臭、刺鼻、辛辣味→有毒；无味、杏仁味→可食用。</a:t>
            </a:r>
          </a:p>
        </p:txBody>
      </p:sp>
      <p:sp>
        <p:nvSpPr>
          <p:cNvPr id="1048842" name="Rectangle 9"/>
          <p:cNvSpPr/>
          <p:nvPr/>
        </p:nvSpPr>
        <p:spPr>
          <a:xfrm>
            <a:off x="548640" y="3108960"/>
            <a:ext cx="1828800" cy="411480"/>
          </a:xfrm>
          <a:prstGeom prst="rect">
            <a:avLst/>
          </a:prstGeom>
          <a:solidFill>
            <a:srgbClr val="2D5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</a:p>
        </p:txBody>
      </p:sp>
      <p:sp>
        <p:nvSpPr>
          <p:cNvPr id="1048843" name="TextBox 10"/>
          <p:cNvSpPr txBox="1"/>
          <p:nvPr/>
        </p:nvSpPr>
        <p:spPr>
          <a:xfrm>
            <a:off x="548640" y="3127248"/>
            <a:ext cx="1828800" cy="29464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algn="ctr">
              <a:defRPr sz="14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模型表现</a:t>
            </a:r>
          </a:p>
        </p:txBody>
      </p:sp>
      <p:sp>
        <p:nvSpPr>
          <p:cNvPr id="1048844" name="TextBox 11"/>
          <p:cNvSpPr txBox="1"/>
          <p:nvPr/>
        </p:nvSpPr>
        <p:spPr>
          <a:xfrm>
            <a:off x="2743200" y="3108960"/>
            <a:ext cx="8686800" cy="35814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algn="l">
              <a:defRPr sz="1800" b="1">
                <a:solidFill>
                  <a:srgbClr val="1A2F23"/>
                </a:solidFill>
                <a:latin typeface="微软雅黑" panose="020B0503020204020204" charset="-122"/>
              </a:defRPr>
            </a:pPr>
            <a:r>
              <a:t>5 个模型达到 100% 准确率，数据集类别边界清晰</a:t>
            </a:r>
          </a:p>
        </p:txBody>
      </p:sp>
      <p:sp>
        <p:nvSpPr>
          <p:cNvPr id="1048845" name="TextBox 12"/>
          <p:cNvSpPr txBox="1"/>
          <p:nvPr/>
        </p:nvSpPr>
        <p:spPr>
          <a:xfrm>
            <a:off x="2743200" y="3566160"/>
            <a:ext cx="8686800" cy="49784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algn="l">
              <a:defRPr sz="1400" b="0">
                <a:solidFill>
                  <a:srgbClr val="6B6B6B"/>
                </a:solidFill>
                <a:latin typeface="微软雅黑" panose="020B0503020204020204" charset="-122"/>
              </a:defRPr>
            </a:pPr>
            <a:r>
              <a:t>随机森林、梯度提升、SVM、KNN、决策树均实现完美分类。仅逻辑回归为 96.25%，说明数据集存在非线性边界。</a:t>
            </a:r>
          </a:p>
        </p:txBody>
      </p:sp>
      <p:sp>
        <p:nvSpPr>
          <p:cNvPr id="1048846" name="Rectangle 13"/>
          <p:cNvSpPr/>
          <p:nvPr/>
        </p:nvSpPr>
        <p:spPr>
          <a:xfrm>
            <a:off x="548640" y="4846320"/>
            <a:ext cx="1828800" cy="411480"/>
          </a:xfrm>
          <a:prstGeom prst="rect">
            <a:avLst/>
          </a:prstGeom>
          <a:solidFill>
            <a:srgbClr val="2D5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</a:p>
        </p:txBody>
      </p:sp>
      <p:sp>
        <p:nvSpPr>
          <p:cNvPr id="1048847" name="TextBox 14"/>
          <p:cNvSpPr txBox="1"/>
          <p:nvPr/>
        </p:nvSpPr>
        <p:spPr>
          <a:xfrm>
            <a:off x="548640" y="4864608"/>
            <a:ext cx="1828800" cy="294641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algn="ctr">
              <a:defRPr sz="14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实际意义</a:t>
            </a:r>
          </a:p>
        </p:txBody>
      </p:sp>
      <p:sp>
        <p:nvSpPr>
          <p:cNvPr id="1048848" name="TextBox 15"/>
          <p:cNvSpPr txBox="1"/>
          <p:nvPr/>
        </p:nvSpPr>
        <p:spPr>
          <a:xfrm>
            <a:off x="2743200" y="4846320"/>
            <a:ext cx="8686800" cy="358141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algn="l">
              <a:defRPr sz="1800" b="1">
                <a:solidFill>
                  <a:srgbClr val="1A2F23"/>
                </a:solidFill>
                <a:latin typeface="微软雅黑" panose="020B0503020204020204" charset="-122"/>
              </a:defRPr>
            </a:pPr>
            <a:r>
              <a:t>机器学习可以有效辅助蘑菇毒性鉴别</a:t>
            </a:r>
          </a:p>
        </p:txBody>
      </p:sp>
      <p:sp>
        <p:nvSpPr>
          <p:cNvPr id="1048849" name="TextBox 16"/>
          <p:cNvSpPr txBox="1"/>
          <p:nvPr/>
        </p:nvSpPr>
        <p:spPr>
          <a:xfrm>
            <a:off x="2743200" y="5303520"/>
            <a:ext cx="8686800" cy="294641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algn="l">
              <a:defRPr sz="1400" b="0">
                <a:solidFill>
                  <a:srgbClr val="6B6B6B"/>
                </a:solidFill>
                <a:latin typeface="微软雅黑" panose="020B0503020204020204" charset="-122"/>
              </a:defRPr>
            </a:pPr>
            <a:r>
              <a:t>基于 22 个形态学特征，ML 模型可提供高置信度的毒性预测。但野外采摘仍需专业鉴定，模型仅供参考。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0"/>
        </a:solidFill>
        <a:effectLst/>
      </p:bgPr>
    </p:bg>
    <p:spTree>
      <p:nvGrpSpPr>
        <p:cNvPr id="47" name=""/>
        <p:cNvGrpSpPr/>
        <p:nvPr/>
      </p:nvGrpSpPr>
      <p:grpSpPr/>
      <p:sp>
        <p:nvSpPr>
          <p:cNvPr id="1048850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D5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</a:p>
        </p:txBody>
      </p:sp>
      <p:sp>
        <p:nvSpPr>
          <p:cNvPr id="1048851" name="TextBox 2"/>
          <p:cNvSpPr txBox="1"/>
          <p:nvPr/>
        </p:nvSpPr>
        <p:spPr>
          <a:xfrm>
            <a:off x="548640" y="1371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algn="l">
              <a:defRPr sz="32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建议与展望</a:t>
            </a:r>
          </a:p>
        </p:txBody>
      </p:sp>
      <p:sp>
        <p:nvSpPr>
          <p:cNvPr id="1048852" name="TextBox 3"/>
          <p:cNvSpPr txBox="1"/>
          <p:nvPr/>
        </p:nvSpPr>
        <p:spPr>
          <a:xfrm>
            <a:off x="548640" y="6858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algn="l">
              <a:defRPr sz="1400" b="0">
                <a:solidFill>
                  <a:srgbClr val="D4E8DC"/>
                </a:solidFill>
                <a:latin typeface="微软雅黑" panose="020B0503020204020204" charset="-122"/>
              </a:defRPr>
            </a:pPr>
            <a:r>
              <a:t>Recommendations &amp; Future Work</a:t>
            </a:r>
          </a:p>
        </p:txBody>
      </p:sp>
      <p:sp>
        <p:nvSpPr>
          <p:cNvPr id="1048853" name="Rectangle 4"/>
          <p:cNvSpPr/>
          <p:nvPr/>
        </p:nvSpPr>
        <p:spPr>
          <a:xfrm>
            <a:off x="0" y="1097280"/>
            <a:ext cx="12191695" cy="36576"/>
          </a:xfrm>
          <a:prstGeom prst="rect">
            <a:avLst/>
          </a:prstGeom>
          <a:solidFill>
            <a:srgbClr val="C895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</a:p>
        </p:txBody>
      </p:sp>
      <p:sp>
        <p:nvSpPr>
          <p:cNvPr id="1048854" name="TextBox 5"/>
          <p:cNvSpPr txBox="1"/>
          <p:nvPr/>
        </p:nvSpPr>
        <p:spPr>
          <a:xfrm>
            <a:off x="731520" y="13716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algn="l">
              <a:defRPr sz="2200" b="1">
                <a:solidFill>
                  <a:srgbClr val="2D5A3D"/>
                </a:solidFill>
                <a:latin typeface="微软雅黑" panose="020B0503020204020204" charset="-122"/>
              </a:defRPr>
            </a:pPr>
            <a:r>
              <a:t>📋 实际建议</a:t>
            </a:r>
          </a:p>
        </p:txBody>
      </p:sp>
      <p:sp>
        <p:nvSpPr>
          <p:cNvPr id="1048855" name="TextBox 6"/>
          <p:cNvSpPr txBox="1"/>
          <p:nvPr/>
        </p:nvSpPr>
        <p:spPr>
          <a:xfrm>
            <a:off x="731520" y="2011680"/>
            <a:ext cx="5029200" cy="320040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>
              <a:spcBef>
                <a:spcPts val="800"/>
              </a:spcBef>
              <a:spcAft>
                <a:spcPts val="400"/>
              </a:spcAft>
              <a:defRPr sz="1500">
                <a:solidFill>
                  <a:srgbClr val="2C2C2C"/>
                </a:solidFill>
                <a:latin typeface="微软雅黑" panose="020B0503020204020204" charset="-122"/>
              </a:defRPr>
            </a:pPr>
            <a:r>
              <a:t>● 在野外采摘蘑菇时，气味是最重要的判断依据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500">
                <a:solidFill>
                  <a:srgbClr val="2C2C2C"/>
                </a:solidFill>
                <a:latin typeface="微软雅黑" panose="020B0503020204020204" charset="-122"/>
              </a:defRPr>
            </a:pPr>
            <a:r>
              <a:t>● 恶臭、刺鼻、辛辣气味的蘑菇应立即丢弃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500">
                <a:solidFill>
                  <a:srgbClr val="2C2C2C"/>
                </a:solidFill>
                <a:latin typeface="微软雅黑" panose="020B0503020204020204" charset="-122"/>
              </a:defRPr>
            </a:pPr>
            <a:r>
              <a:t>● 建议优先使用随机森林或梯度提升模型进行预测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500">
                <a:solidFill>
                  <a:srgbClr val="2C2C2C"/>
                </a:solidFill>
                <a:latin typeface="微软雅黑" panose="020B0503020204020204" charset="-122"/>
              </a:defRPr>
            </a:pPr>
            <a:r>
              <a:t>● 本分析仅供参考，不能替代专业鉴定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500">
                <a:solidFill>
                  <a:srgbClr val="2C2C2C"/>
                </a:solidFill>
                <a:latin typeface="微软雅黑" panose="020B0503020204020204" charset="-122"/>
              </a:defRPr>
            </a:pPr>
            <a:r>
              <a:t>● 遇到不确定的蘑菇，宁可不采，安全第一</a:t>
            </a:r>
          </a:p>
        </p:txBody>
      </p:sp>
      <p:sp>
        <p:nvSpPr>
          <p:cNvPr id="1048856" name="TextBox 7"/>
          <p:cNvSpPr txBox="1"/>
          <p:nvPr/>
        </p:nvSpPr>
        <p:spPr>
          <a:xfrm>
            <a:off x="6400800" y="13716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algn="l">
              <a:defRPr sz="2200" b="1">
                <a:solidFill>
                  <a:srgbClr val="2D5A3D"/>
                </a:solidFill>
                <a:latin typeface="微软雅黑" panose="020B0503020204020204" charset="-122"/>
              </a:defRPr>
            </a:pPr>
            <a:r>
              <a:t>🔮 未来展望</a:t>
            </a:r>
          </a:p>
        </p:txBody>
      </p:sp>
      <p:sp>
        <p:nvSpPr>
          <p:cNvPr id="1048857" name="TextBox 8"/>
          <p:cNvSpPr txBox="1"/>
          <p:nvPr/>
        </p:nvSpPr>
        <p:spPr>
          <a:xfrm>
            <a:off x="6400800" y="2011680"/>
            <a:ext cx="5029200" cy="320040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>
              <a:spcBef>
                <a:spcPts val="800"/>
              </a:spcBef>
              <a:spcAft>
                <a:spcPts val="400"/>
              </a:spcAft>
              <a:defRPr sz="1500">
                <a:solidFill>
                  <a:srgbClr val="2C2C2C"/>
                </a:solidFill>
                <a:latin typeface="微软雅黑" panose="020B0503020204020204" charset="-122"/>
              </a:defRPr>
            </a:pPr>
            <a:r>
              <a:t>● 扩展数据集：纳入更多地区的蘑菇品种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500">
                <a:solidFill>
                  <a:srgbClr val="2C2C2C"/>
                </a:solidFill>
                <a:latin typeface="微软雅黑" panose="020B0503020204020204" charset="-122"/>
              </a:defRPr>
            </a:pPr>
            <a:r>
              <a:t>● 增加图像识别：结合 CNN 模型识别蘑菇图片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500">
                <a:solidFill>
                  <a:srgbClr val="2C2C2C"/>
                </a:solidFill>
                <a:latin typeface="微软雅黑" panose="020B0503020204020204" charset="-122"/>
              </a:defRPr>
            </a:pPr>
            <a:r>
              <a:t>● 开发移动端 App：拍照即可判断毒性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500">
                <a:solidFill>
                  <a:srgbClr val="2C2C2C"/>
                </a:solidFill>
                <a:latin typeface="微软雅黑" panose="020B0503020204020204" charset="-122"/>
              </a:defRPr>
            </a:pPr>
            <a:r>
              <a:t>● 引入深度学习：探索更复杂的特征交互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500">
                <a:solidFill>
                  <a:srgbClr val="2C2C2C"/>
                </a:solidFill>
                <a:latin typeface="微软雅黑" panose="020B0503020204020204" charset="-122"/>
              </a:defRPr>
            </a:pPr>
            <a:r>
              <a:t>● 建立实时数据库：持续更新蘑菇鉴别知识</a:t>
            </a:r>
          </a:p>
        </p:txBody>
      </p:sp>
      <p:sp>
        <p:nvSpPr>
          <p:cNvPr id="1048858" name="Rectangle 9"/>
          <p:cNvSpPr/>
          <p:nvPr/>
        </p:nvSpPr>
        <p:spPr>
          <a:xfrm>
            <a:off x="731520" y="5486400"/>
            <a:ext cx="10698480" cy="9144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</a:p>
        </p:txBody>
      </p:sp>
      <p:sp>
        <p:nvSpPr>
          <p:cNvPr id="1048859" name="TextBox 10"/>
          <p:cNvSpPr txBox="1"/>
          <p:nvPr/>
        </p:nvSpPr>
        <p:spPr>
          <a:xfrm>
            <a:off x="1005840" y="55778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algn="l">
              <a:defRPr sz="1400" b="0">
                <a:solidFill>
                  <a:srgbClr val="8A6D3B"/>
                </a:solidFill>
                <a:latin typeface="微软雅黑" panose="020B0503020204020204" charset="-122"/>
              </a:defRPr>
            </a:pPr>
            <a:r>
              <a:t>⚠️ 免责声明：本项目仅用于学术研究和课程学习目的。蘑菇毒性鉴定请务必咨询专业人士，切勿仅凭本项目的分析结果自行判断野生蘑菇是否可食用。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F23"/>
        </a:solidFill>
        <a:effectLst/>
      </p:bgPr>
    </p:bg>
    <p:spTree>
      <p:nvGrpSpPr>
        <p:cNvPr id="48" name=""/>
        <p:cNvGrpSpPr/>
        <p:nvPr/>
      </p:nvGrpSpPr>
      <p:grpSpPr/>
      <p:sp>
        <p:nvSpPr>
          <p:cNvPr id="1048860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C895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</a:p>
        </p:txBody>
      </p:sp>
      <p:sp>
        <p:nvSpPr>
          <p:cNvPr id="1048861" name="Rectangle 2"/>
          <p:cNvSpPr/>
          <p:nvPr/>
        </p:nvSpPr>
        <p:spPr>
          <a:xfrm>
            <a:off x="0" y="6217920"/>
            <a:ext cx="12191695" cy="640080"/>
          </a:xfrm>
          <a:prstGeom prst="rect">
            <a:avLst/>
          </a:prstGeom>
          <a:solidFill>
            <a:srgbClr val="2D5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</a:p>
        </p:txBody>
      </p:sp>
      <p:sp>
        <p:nvSpPr>
          <p:cNvPr id="1048862" name="TextBox 3"/>
          <p:cNvSpPr txBox="1"/>
          <p:nvPr/>
        </p:nvSpPr>
        <p:spPr>
          <a:xfrm>
            <a:off x="1371600" y="18288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algn="ctr">
              <a:defRPr sz="48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感谢聆听</a:t>
            </a:r>
          </a:p>
        </p:txBody>
      </p:sp>
      <p:sp>
        <p:nvSpPr>
          <p:cNvPr id="1048863" name="TextBox 4"/>
          <p:cNvSpPr txBox="1"/>
          <p:nvPr/>
        </p:nvSpPr>
        <p:spPr>
          <a:xfrm>
            <a:off x="1371600" y="32004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algn="ctr">
              <a:defRPr sz="3600" b="0">
                <a:solidFill>
                  <a:srgbClr val="7BB898"/>
                </a:solidFill>
                <a:latin typeface="微软雅黑" panose="020B0503020204020204" charset="-122"/>
              </a:defRPr>
            </a:pPr>
            <a:r>
              <a:t>Q &amp; A</a:t>
            </a:r>
          </a:p>
        </p:txBody>
      </p:sp>
      <p:sp>
        <p:nvSpPr>
          <p:cNvPr id="1048864" name="Rectangle 5"/>
          <p:cNvSpPr/>
          <p:nvPr/>
        </p:nvSpPr>
        <p:spPr>
          <a:xfrm>
            <a:off x="5029200" y="4114800"/>
            <a:ext cx="2103120" cy="36576"/>
          </a:xfrm>
          <a:prstGeom prst="rect">
            <a:avLst/>
          </a:prstGeom>
          <a:solidFill>
            <a:srgbClr val="C895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</a:p>
        </p:txBody>
      </p:sp>
      <p:sp>
        <p:nvSpPr>
          <p:cNvPr id="1048865" name="TextBox 6"/>
          <p:cNvSpPr txBox="1"/>
          <p:nvPr/>
        </p:nvSpPr>
        <p:spPr>
          <a:xfrm>
            <a:off x="1371600" y="45720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algn="ctr">
              <a:defRPr sz="2000" b="0">
                <a:solidFill>
                  <a:srgbClr val="D4E8DC"/>
                </a:solidFill>
                <a:latin typeface="微软雅黑" panose="020B0503020204020204" charset="-122"/>
              </a:defRPr>
            </a:pPr>
            <a:r>
              <a:t>欢迎提问和讨论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TH Sarabun PSK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TH Sarabun PSK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4326</Words>
  <Application>WPS 演示</Application>
  <PresentationFormat/>
  <Paragraphs>521</Paragraphs>
  <Slides>17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26" baseType="lpstr">
      <vt:lpstr>Arial</vt:lpstr>
      <vt:lpstr>宋体</vt:lpstr>
      <vt:lpstr>Wingdings</vt:lpstr>
      <vt:lpstr>Arial</vt:lpstr>
      <vt:lpstr>微软雅黑</vt:lpstr>
      <vt:lpstr>Consolas</vt:lpstr>
      <vt:lpstr>Calibri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OPD2405</dc:creator>
  <cp:lastModifiedBy>ʚ少女与猫ɞ</cp:lastModifiedBy>
  <cp:revision>1</cp:revision>
  <dcterms:created xsi:type="dcterms:W3CDTF">2026-06-26T16:48:55Z</dcterms:created>
  <dcterms:modified xsi:type="dcterms:W3CDTF">2026-06-26T16:48:56Z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f441f7fdeaf241b8950386bcb66d935d_23</vt:lpwstr>
  </property>
  <property fmtid="{D5CDD505-2E9C-101B-9397-08002B2CF9AE}" pid="3" name="KSOProductBuildVer">
    <vt:lpwstr>2052-12.1.0.26895</vt:lpwstr>
  </property>
</Properties>
</file>